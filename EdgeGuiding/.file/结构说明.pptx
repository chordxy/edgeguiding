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7" r:id="rId2"/>
    <p:sldId id="256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000"/>
    <a:srgbClr val="8C9EB5"/>
    <a:srgbClr val="00B050"/>
    <a:srgbClr val="507BC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6" d="100"/>
          <a:sy n="106" d="100"/>
        </p:scale>
        <p:origin x="75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170E9EB-01B7-4F7C-B06F-9E08E04946B3}" type="datetimeFigureOut">
              <a:rPr lang="zh-CN" altLang="en-US" smtClean="0"/>
              <a:t>2026/3/7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F6B0299-4DAA-4853-9A6E-EDBCA329CE7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810841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6B0299-4DAA-4853-9A6E-EDBCA329CE7C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2054507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6B0299-4DAA-4853-9A6E-EDBCA329CE7C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428414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2283561-0FB4-4ED4-9FC0-F4C363ED50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24490E8C-942D-427B-9DFD-B0F655A315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2827E4A-441F-4D2E-9EA3-8971F6E527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9F33D4-2BF7-4811-A86F-D9ED4EC76BB9}" type="datetimeFigureOut">
              <a:rPr lang="zh-CN" altLang="en-US" smtClean="0"/>
              <a:t>2026/3/7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10D4A78-CB2A-4FD2-8CBE-50ACA6BA41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3DF8B29-D67C-441D-AFE5-216F36C832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21417F-970B-4BEE-B651-55527A08B66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631175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3D53B7A-DB97-4A83-A305-045AE59989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B37EE80-5A37-472D-8FF5-561CE7E6C9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931E8D1-2F2F-4AAF-95F1-9FF1893985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9F33D4-2BF7-4811-A86F-D9ED4EC76BB9}" type="datetimeFigureOut">
              <a:rPr lang="zh-CN" altLang="en-US" smtClean="0"/>
              <a:t>2026/3/7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F7B8723-49AF-402E-B5B9-7662D5516B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135CD13-9945-4C86-AAF4-068B840DD8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21417F-970B-4BEE-B651-55527A08B66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389431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CF79114-E578-4971-9B8E-DB87D7C46A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A729E0A-5D26-45A6-95B4-BE976DB6EE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E660E22-F395-404C-9F90-FB8B778891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9F33D4-2BF7-4811-A86F-D9ED4EC76BB9}" type="datetimeFigureOut">
              <a:rPr lang="zh-CN" altLang="en-US" smtClean="0"/>
              <a:t>2026/3/7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E291B03-CA39-428A-B74F-3038139273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684DB03-A855-4D6F-9C35-FB841008EA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21417F-970B-4BEE-B651-55527A08B66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284576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13ABEB2-033E-441B-8866-F494918128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6EDEF53-13E7-43BD-B6B1-4D3C00FD17E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DD3F7F4-8C7B-4F1D-89DF-FE7C78A512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CDB4A34-0C19-4356-9DDD-444D5089D3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9F33D4-2BF7-4811-A86F-D9ED4EC76BB9}" type="datetimeFigureOut">
              <a:rPr lang="zh-CN" altLang="en-US" smtClean="0"/>
              <a:t>2026/3/7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C306A11-539E-4307-A400-AA1E00EB4E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E203AB4-7869-4EE6-B68C-CB4471FCA8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21417F-970B-4BEE-B651-55527A08B66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552643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76E74FC-AE4E-45C6-BE26-725C7C0935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A7FA415-5D89-4EF8-B176-2450D0D287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D686AC1-FA69-4E7D-BBCA-8DD01A21D4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3A922B80-4171-4E86-AC40-C6CBBBCEB30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BC6894C3-DD61-4BDE-99FA-E8646E16095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5FB5AEC6-D971-435F-875B-CA3CEE467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9F33D4-2BF7-4811-A86F-D9ED4EC76BB9}" type="datetimeFigureOut">
              <a:rPr lang="zh-CN" altLang="en-US" smtClean="0"/>
              <a:t>2026/3/7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44822B6A-012E-4A60-B465-E614059DBA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852AAEC4-1AE8-40E0-8E7C-15F8B946E0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21417F-970B-4BEE-B651-55527A08B66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29109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745ACB4-B408-4FBA-BDB1-6AFD07270D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BA621C19-4843-4743-965F-59F5FC157B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9F33D4-2BF7-4811-A86F-D9ED4EC76BB9}" type="datetimeFigureOut">
              <a:rPr lang="zh-CN" altLang="en-US" smtClean="0"/>
              <a:t>2026/3/7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B68DB7A0-E551-4ED1-9BEC-6AE93426C0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ECA0F2C2-FF39-45D0-B237-AFB990C85A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21417F-970B-4BEE-B651-55527A08B66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677234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06349C4A-26AD-4DD9-B6F7-E0D884C3CC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9F33D4-2BF7-4811-A86F-D9ED4EC76BB9}" type="datetimeFigureOut">
              <a:rPr lang="zh-CN" altLang="en-US" smtClean="0"/>
              <a:t>2026/3/7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995FDA63-3C66-4763-9EF6-9F8AE34491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A714107-3666-4A5A-9BB2-87966867B1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21417F-970B-4BEE-B651-55527A08B66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213697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E43F1D3-A8D7-42E6-9003-3C11CB5AEA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A906891-2343-499C-BFCB-CBF0447ADD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86552B7-E434-4041-A745-8059C87787B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0A210EF-C626-42DB-8F07-C79AD2A341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9F33D4-2BF7-4811-A86F-D9ED4EC76BB9}" type="datetimeFigureOut">
              <a:rPr lang="zh-CN" altLang="en-US" smtClean="0"/>
              <a:t>2026/3/7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0E0D654-3A50-4229-86CF-7FECBB54F5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15B1321-9764-47CB-85EF-D5A2E81C66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21417F-970B-4BEE-B651-55527A08B66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75784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3A8E3AB-20FA-41F0-BB58-4AEED588AA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9F18994A-10FB-425B-B8C2-1273640759A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3A09BF2-BBBB-4F3A-B8C1-50478D3C2C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F5A0AD4-38F6-4F86-8CCA-88EA41E91A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9F33D4-2BF7-4811-A86F-D9ED4EC76BB9}" type="datetimeFigureOut">
              <a:rPr lang="zh-CN" altLang="en-US" smtClean="0"/>
              <a:t>2026/3/7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CA3AD81-2EBF-4443-B445-A02CF64C14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A203D2F-F9DC-48E5-BF49-D908956E41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21417F-970B-4BEE-B651-55527A08B66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933224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520664E-6B61-4A35-88F4-DC35AA1DD3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F7A804F-FAC2-426B-8CDE-5B7B07A8227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0D0AEA9-AC43-495F-ADBC-555965AEC5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9F33D4-2BF7-4811-A86F-D9ED4EC76BB9}" type="datetimeFigureOut">
              <a:rPr lang="zh-CN" altLang="en-US" smtClean="0"/>
              <a:t>2026/3/7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C8B8485-16BC-4383-B97F-EAA7F23AB4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129EB8A-C347-4EFF-B0F8-0070D2F9E3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21417F-970B-4BEE-B651-55527A08B66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437660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18526364-7ABA-4AFD-B0E3-BEC3A60090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3DCD3B1-00DA-4759-A120-1D69A439D2F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D8C5EAF-152E-4DFB-97F3-66EE775162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9F33D4-2BF7-4811-A86F-D9ED4EC76BB9}" type="datetimeFigureOut">
              <a:rPr lang="zh-CN" altLang="en-US" smtClean="0"/>
              <a:t>2026/3/7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63655A2-28B4-4075-86D5-C03E6871F5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6911608-9CC3-4007-B724-3482258691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21417F-970B-4BEE-B651-55527A08B66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472834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2B99F853-F289-48D7-AFA0-96FED670A7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960451B-6969-4B70-9C70-ABDCBFA456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2B0167D-4EC9-4C7A-A75F-05EE247DFA5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9F33D4-2BF7-4811-A86F-D9ED4EC76BB9}" type="datetimeFigureOut">
              <a:rPr lang="zh-CN" altLang="en-US" smtClean="0"/>
              <a:t>2026/3/7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3B23AE8-7270-4063-9AB2-50285A0C7E3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5E59D8B-F1EE-410C-9972-57AD8AC154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21417F-970B-4BEE-B651-55527A08B66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895585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83592481-556F-4839-97A0-AB95FFEA07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816519" cy="6858000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9AF5F094-3906-4E69-AA2A-656A3CBFE349}"/>
              </a:ext>
            </a:extLst>
          </p:cNvPr>
          <p:cNvSpPr txBox="1"/>
          <p:nvPr/>
        </p:nvSpPr>
        <p:spPr>
          <a:xfrm>
            <a:off x="2625450" y="140858"/>
            <a:ext cx="9057034" cy="5772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500" b="1" dirty="0">
                <a:latin typeface="宋体" panose="02010600030101010101" pitchFamily="2" charset="-122"/>
                <a:ea typeface="宋体" panose="02010600030101010101" pitchFamily="2" charset="-122"/>
              </a:rPr>
              <a:t>1. </a:t>
            </a:r>
            <a:r>
              <a:rPr lang="zh-CN" altLang="en-US" sz="2500" b="1" dirty="0">
                <a:latin typeface="宋体" panose="02010600030101010101" pitchFamily="2" charset="-122"/>
                <a:ea typeface="宋体" panose="02010600030101010101" pitchFamily="2" charset="-122"/>
              </a:rPr>
              <a:t>界面相关</a:t>
            </a:r>
            <a:endParaRPr lang="en-US" altLang="zh-CN" sz="25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500" b="1" dirty="0">
                <a:latin typeface="宋体" panose="02010600030101010101" pitchFamily="2" charset="-122"/>
                <a:ea typeface="宋体" panose="02010600030101010101" pitchFamily="2" charset="-122"/>
              </a:rPr>
              <a:t>基类</a:t>
            </a:r>
            <a:endParaRPr lang="en-US" altLang="zh-CN" sz="25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1200150" lvl="2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500" dirty="0" err="1">
                <a:latin typeface="宋体" panose="02010600030101010101" pitchFamily="2" charset="-122"/>
                <a:ea typeface="宋体" panose="02010600030101010101" pitchFamily="2" charset="-122"/>
              </a:rPr>
              <a:t>autoclosedialog.h</a:t>
            </a:r>
            <a:r>
              <a:rPr lang="en-US" altLang="zh-CN" sz="2500" dirty="0">
                <a:latin typeface="宋体" panose="02010600030101010101" pitchFamily="2" charset="-122"/>
                <a:ea typeface="宋体" panose="02010600030101010101" pitchFamily="2" charset="-122"/>
              </a:rPr>
              <a:t>	</a:t>
            </a:r>
            <a:r>
              <a:rPr lang="zh-CN" altLang="en-US" sz="2500" dirty="0">
                <a:latin typeface="宋体" panose="02010600030101010101" pitchFamily="2" charset="-122"/>
                <a:ea typeface="宋体" panose="02010600030101010101" pitchFamily="2" charset="-122"/>
              </a:rPr>
              <a:t>自动关闭</a:t>
            </a:r>
            <a:r>
              <a:rPr lang="en-US" altLang="zh-CN" sz="2500" dirty="0">
                <a:latin typeface="宋体" panose="02010600030101010101" pitchFamily="2" charset="-122"/>
                <a:ea typeface="宋体" panose="02010600030101010101" pitchFamily="2" charset="-122"/>
              </a:rPr>
              <a:t>dialog</a:t>
            </a:r>
          </a:p>
          <a:p>
            <a:pPr marL="1200150" lvl="2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500" dirty="0" err="1">
                <a:latin typeface="宋体" panose="02010600030101010101" pitchFamily="2" charset="-122"/>
                <a:ea typeface="宋体" panose="02010600030101010101" pitchFamily="2" charset="-122"/>
              </a:rPr>
              <a:t>autolockwindow.h</a:t>
            </a:r>
            <a:r>
              <a:rPr lang="en-US" altLang="zh-CN" sz="2500" dirty="0">
                <a:latin typeface="宋体" panose="02010600030101010101" pitchFamily="2" charset="-122"/>
                <a:ea typeface="宋体" panose="02010600030101010101" pitchFamily="2" charset="-122"/>
              </a:rPr>
              <a:t>	</a:t>
            </a:r>
            <a:r>
              <a:rPr lang="zh-CN" altLang="en-US" sz="2500" dirty="0">
                <a:latin typeface="宋体" panose="02010600030101010101" pitchFamily="2" charset="-122"/>
                <a:ea typeface="宋体" panose="02010600030101010101" pitchFamily="2" charset="-122"/>
              </a:rPr>
              <a:t>自动锁定窗体</a:t>
            </a:r>
            <a:endParaRPr lang="en-US" altLang="zh-CN" sz="25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1200150" lvl="2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500" dirty="0" err="1">
                <a:latin typeface="宋体" panose="02010600030101010101" pitchFamily="2" charset="-122"/>
                <a:ea typeface="宋体" panose="02010600030101010101" pitchFamily="2" charset="-122"/>
              </a:rPr>
              <a:t>longPressButton.h</a:t>
            </a:r>
            <a:r>
              <a:rPr lang="en-US" altLang="zh-CN" sz="2500" dirty="0">
                <a:latin typeface="宋体" panose="02010600030101010101" pitchFamily="2" charset="-122"/>
                <a:ea typeface="宋体" panose="02010600030101010101" pitchFamily="2" charset="-122"/>
              </a:rPr>
              <a:t>	</a:t>
            </a:r>
            <a:r>
              <a:rPr lang="zh-CN" altLang="en-US" sz="2500" dirty="0">
                <a:latin typeface="宋体" panose="02010600030101010101" pitchFamily="2" charset="-122"/>
                <a:ea typeface="宋体" panose="02010600030101010101" pitchFamily="2" charset="-122"/>
              </a:rPr>
              <a:t>长按连击按钮（提升类）</a:t>
            </a:r>
            <a:endParaRPr lang="en-US" altLang="zh-CN" sz="25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500" b="1" dirty="0">
                <a:latin typeface="宋体" panose="02010600030101010101" pitchFamily="2" charset="-122"/>
                <a:ea typeface="宋体" panose="02010600030101010101" pitchFamily="2" charset="-122"/>
              </a:rPr>
              <a:t>窗体界面</a:t>
            </a:r>
            <a:endParaRPr lang="en-US" altLang="zh-CN" sz="25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1200150" lvl="2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500" dirty="0" err="1">
                <a:latin typeface="宋体" panose="02010600030101010101" pitchFamily="2" charset="-122"/>
                <a:ea typeface="宋体" panose="02010600030101010101" pitchFamily="2" charset="-122"/>
              </a:rPr>
              <a:t>dlg_calibration.h</a:t>
            </a:r>
            <a:r>
              <a:rPr lang="en-US" altLang="zh-CN" sz="2500" dirty="0">
                <a:latin typeface="宋体" panose="02010600030101010101" pitchFamily="2" charset="-122"/>
                <a:ea typeface="宋体" panose="02010600030101010101" pitchFamily="2" charset="-122"/>
              </a:rPr>
              <a:t>	</a:t>
            </a:r>
            <a:r>
              <a:rPr lang="zh-CN" altLang="en-US" sz="2500" dirty="0">
                <a:latin typeface="宋体" panose="02010600030101010101" pitchFamily="2" charset="-122"/>
                <a:ea typeface="宋体" panose="02010600030101010101" pitchFamily="2" charset="-122"/>
              </a:rPr>
              <a:t>标定界面</a:t>
            </a:r>
            <a:endParaRPr lang="en-US" altLang="zh-CN" sz="25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1200150" lvl="2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500" dirty="0" err="1">
                <a:latin typeface="宋体" panose="02010600030101010101" pitchFamily="2" charset="-122"/>
                <a:ea typeface="宋体" panose="02010600030101010101" pitchFamily="2" charset="-122"/>
              </a:rPr>
              <a:t>dlg_settting.h</a:t>
            </a:r>
            <a:r>
              <a:rPr lang="en-US" altLang="zh-CN" sz="2500" dirty="0">
                <a:latin typeface="宋体" panose="02010600030101010101" pitchFamily="2" charset="-122"/>
                <a:ea typeface="宋体" panose="02010600030101010101" pitchFamily="2" charset="-122"/>
              </a:rPr>
              <a:t>		</a:t>
            </a:r>
            <a:r>
              <a:rPr lang="zh-CN" altLang="en-US" sz="2500" dirty="0">
                <a:latin typeface="宋体" panose="02010600030101010101" pitchFamily="2" charset="-122"/>
                <a:ea typeface="宋体" panose="02010600030101010101" pitchFamily="2" charset="-122"/>
              </a:rPr>
              <a:t>设置界面</a:t>
            </a:r>
            <a:endParaRPr lang="en-US" altLang="zh-CN" sz="25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1200150" lvl="2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500" dirty="0" err="1">
                <a:latin typeface="宋体" panose="02010600030101010101" pitchFamily="2" charset="-122"/>
                <a:ea typeface="宋体" panose="02010600030101010101" pitchFamily="2" charset="-122"/>
              </a:rPr>
              <a:t>dlg_unlock.h</a:t>
            </a:r>
            <a:r>
              <a:rPr lang="en-US" altLang="zh-CN" sz="2500" dirty="0">
                <a:latin typeface="宋体" panose="02010600030101010101" pitchFamily="2" charset="-122"/>
                <a:ea typeface="宋体" panose="02010600030101010101" pitchFamily="2" charset="-122"/>
              </a:rPr>
              <a:t>		</a:t>
            </a:r>
            <a:r>
              <a:rPr lang="zh-CN" altLang="en-US" sz="2500" dirty="0">
                <a:latin typeface="宋体" panose="02010600030101010101" pitchFamily="2" charset="-122"/>
                <a:ea typeface="宋体" panose="02010600030101010101" pitchFamily="2" charset="-122"/>
              </a:rPr>
              <a:t>锁定</a:t>
            </a:r>
            <a:r>
              <a:rPr lang="en-US" altLang="zh-CN" sz="2500" dirty="0">
                <a:latin typeface="宋体" panose="02010600030101010101" pitchFamily="2" charset="-122"/>
                <a:ea typeface="宋体" panose="02010600030101010101" pitchFamily="2" charset="-122"/>
              </a:rPr>
              <a:t>/</a:t>
            </a:r>
            <a:r>
              <a:rPr lang="zh-CN" altLang="en-US" sz="2500" dirty="0">
                <a:latin typeface="宋体" panose="02010600030101010101" pitchFamily="2" charset="-122"/>
                <a:ea typeface="宋体" panose="02010600030101010101" pitchFamily="2" charset="-122"/>
              </a:rPr>
              <a:t>解锁 密码盘</a:t>
            </a:r>
            <a:endParaRPr lang="en-US" altLang="zh-CN" sz="25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1200150" lvl="2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500" dirty="0" err="1">
                <a:latin typeface="宋体" panose="02010600030101010101" pitchFamily="2" charset="-122"/>
                <a:ea typeface="宋体" panose="02010600030101010101" pitchFamily="2" charset="-122"/>
              </a:rPr>
              <a:t>Mainwindow.h</a:t>
            </a:r>
            <a:r>
              <a:rPr lang="en-US" altLang="zh-CN" sz="2500" dirty="0">
                <a:latin typeface="宋体" panose="02010600030101010101" pitchFamily="2" charset="-122"/>
                <a:ea typeface="宋体" panose="02010600030101010101" pitchFamily="2" charset="-122"/>
              </a:rPr>
              <a:t>		</a:t>
            </a:r>
            <a:r>
              <a:rPr lang="zh-CN" altLang="en-US" sz="2500" dirty="0">
                <a:latin typeface="宋体" panose="02010600030101010101" pitchFamily="2" charset="-122"/>
                <a:ea typeface="宋体" panose="02010600030101010101" pitchFamily="2" charset="-122"/>
              </a:rPr>
              <a:t>主界面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3020665-D2BC-4273-A861-589D9608EE51}"/>
              </a:ext>
            </a:extLst>
          </p:cNvPr>
          <p:cNvSpPr/>
          <p:nvPr/>
        </p:nvSpPr>
        <p:spPr>
          <a:xfrm>
            <a:off x="416458" y="1122630"/>
            <a:ext cx="1783533" cy="35308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914409F4-1257-4125-8ACA-FDB3A6A11734}"/>
              </a:ext>
            </a:extLst>
          </p:cNvPr>
          <p:cNvSpPr/>
          <p:nvPr/>
        </p:nvSpPr>
        <p:spPr>
          <a:xfrm>
            <a:off x="416457" y="1696647"/>
            <a:ext cx="1783533" cy="7560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CC33276E-4A5A-498C-8750-9316E80B0101}"/>
              </a:ext>
            </a:extLst>
          </p:cNvPr>
          <p:cNvSpPr/>
          <p:nvPr/>
        </p:nvSpPr>
        <p:spPr>
          <a:xfrm>
            <a:off x="416456" y="3199522"/>
            <a:ext cx="1783533" cy="18496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3F271AB-072F-4919-8B71-A666E4E12CAB}"/>
              </a:ext>
            </a:extLst>
          </p:cNvPr>
          <p:cNvSpPr/>
          <p:nvPr/>
        </p:nvSpPr>
        <p:spPr>
          <a:xfrm>
            <a:off x="416457" y="3958505"/>
            <a:ext cx="1783533" cy="7560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8646AA26-5200-4696-8DDE-724ADBC45ECC}"/>
              </a:ext>
            </a:extLst>
          </p:cNvPr>
          <p:cNvSpPr/>
          <p:nvPr/>
        </p:nvSpPr>
        <p:spPr>
          <a:xfrm>
            <a:off x="416456" y="5461379"/>
            <a:ext cx="1783533" cy="18496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497329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83592481-556F-4839-97A0-AB95FFEA07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816519" cy="6858000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9AF5F094-3906-4E69-AA2A-656A3CBFE349}"/>
              </a:ext>
            </a:extLst>
          </p:cNvPr>
          <p:cNvSpPr txBox="1"/>
          <p:nvPr/>
        </p:nvSpPr>
        <p:spPr>
          <a:xfrm>
            <a:off x="2625450" y="140858"/>
            <a:ext cx="9057034" cy="346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500" b="1" dirty="0">
                <a:latin typeface="宋体" panose="02010600030101010101" pitchFamily="2" charset="-122"/>
                <a:ea typeface="宋体" panose="02010600030101010101" pitchFamily="2" charset="-122"/>
              </a:rPr>
              <a:t>2. </a:t>
            </a:r>
            <a:r>
              <a:rPr lang="zh-CN" altLang="en-US" sz="2500" b="1" dirty="0">
                <a:latin typeface="宋体" panose="02010600030101010101" pitchFamily="2" charset="-122"/>
                <a:ea typeface="宋体" panose="02010600030101010101" pitchFamily="2" charset="-122"/>
              </a:rPr>
              <a:t>功能相关</a:t>
            </a:r>
            <a:endParaRPr lang="en-US" altLang="zh-CN" sz="25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500" dirty="0" err="1">
                <a:latin typeface="宋体" panose="02010600030101010101" pitchFamily="2" charset="-122"/>
                <a:ea typeface="宋体" panose="02010600030101010101" pitchFamily="2" charset="-122"/>
              </a:rPr>
              <a:t>m_encrypt.h</a:t>
            </a:r>
            <a:r>
              <a:rPr lang="en-US" altLang="zh-CN" sz="2500" dirty="0">
                <a:latin typeface="宋体" panose="02010600030101010101" pitchFamily="2" charset="-122"/>
                <a:ea typeface="宋体" panose="02010600030101010101" pitchFamily="2" charset="-122"/>
              </a:rPr>
              <a:t>			</a:t>
            </a:r>
            <a:r>
              <a:rPr lang="zh-CN" altLang="en-US" sz="2500" dirty="0">
                <a:latin typeface="宋体" panose="02010600030101010101" pitchFamily="2" charset="-122"/>
                <a:ea typeface="宋体" panose="02010600030101010101" pitchFamily="2" charset="-122"/>
              </a:rPr>
              <a:t>加密</a:t>
            </a:r>
            <a:endParaRPr lang="en-US" altLang="zh-CN" sz="25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500" dirty="0" err="1">
                <a:latin typeface="宋体" panose="02010600030101010101" pitchFamily="2" charset="-122"/>
                <a:ea typeface="宋体" panose="02010600030101010101" pitchFamily="2" charset="-122"/>
              </a:rPr>
              <a:t>m_loggings.h</a:t>
            </a:r>
            <a:r>
              <a:rPr lang="en-US" altLang="zh-CN" sz="2500" dirty="0">
                <a:latin typeface="宋体" panose="02010600030101010101" pitchFamily="2" charset="-122"/>
                <a:ea typeface="宋体" panose="02010600030101010101" pitchFamily="2" charset="-122"/>
              </a:rPr>
              <a:t>			</a:t>
            </a:r>
            <a:r>
              <a:rPr lang="zh-CN" altLang="en-US" sz="2500" dirty="0">
                <a:latin typeface="宋体" panose="02010600030101010101" pitchFamily="2" charset="-122"/>
                <a:ea typeface="宋体" panose="02010600030101010101" pitchFamily="2" charset="-122"/>
              </a:rPr>
              <a:t>日志</a:t>
            </a:r>
            <a:endParaRPr lang="en-US" altLang="zh-CN" sz="25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500" dirty="0" err="1">
                <a:latin typeface="宋体" panose="02010600030101010101" pitchFamily="2" charset="-122"/>
                <a:ea typeface="宋体" panose="02010600030101010101" pitchFamily="2" charset="-122"/>
              </a:rPr>
              <a:t>m_peripheralOperator.h</a:t>
            </a:r>
            <a:r>
              <a:rPr lang="en-US" altLang="zh-CN" sz="2500" dirty="0">
                <a:latin typeface="宋体" panose="02010600030101010101" pitchFamily="2" charset="-122"/>
                <a:ea typeface="宋体" panose="02010600030101010101" pitchFamily="2" charset="-122"/>
              </a:rPr>
              <a:t>	</a:t>
            </a:r>
            <a:r>
              <a:rPr lang="zh-CN" altLang="en-US" sz="2500" dirty="0">
                <a:latin typeface="宋体" panose="02010600030101010101" pitchFamily="2" charset="-122"/>
                <a:ea typeface="宋体" panose="02010600030101010101" pitchFamily="2" charset="-122"/>
              </a:rPr>
              <a:t>外设操作函数</a:t>
            </a:r>
            <a:endParaRPr lang="en-US" altLang="zh-CN" sz="25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500" dirty="0" err="1">
                <a:latin typeface="宋体" panose="02010600030101010101" pitchFamily="2" charset="-122"/>
                <a:ea typeface="宋体" panose="02010600030101010101" pitchFamily="2" charset="-122"/>
              </a:rPr>
              <a:t>m_uvcCapture.h</a:t>
            </a:r>
            <a:r>
              <a:rPr lang="en-US" altLang="zh-CN" sz="2500" dirty="0">
                <a:latin typeface="宋体" panose="02010600030101010101" pitchFamily="2" charset="-122"/>
                <a:ea typeface="宋体" panose="02010600030101010101" pitchFamily="2" charset="-122"/>
              </a:rPr>
              <a:t>		</a:t>
            </a:r>
            <a:r>
              <a:rPr lang="zh-CN" altLang="en-US" sz="2500" dirty="0">
                <a:latin typeface="宋体" panose="02010600030101010101" pitchFamily="2" charset="-122"/>
                <a:ea typeface="宋体" panose="02010600030101010101" pitchFamily="2" charset="-122"/>
              </a:rPr>
              <a:t>相机操作函数</a:t>
            </a:r>
            <a:endParaRPr lang="en-US" altLang="zh-CN" sz="25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500" dirty="0" err="1">
                <a:latin typeface="宋体" panose="02010600030101010101" pitchFamily="2" charset="-122"/>
                <a:ea typeface="宋体" panose="02010600030101010101" pitchFamily="2" charset="-122"/>
              </a:rPr>
              <a:t>define.h</a:t>
            </a:r>
            <a:r>
              <a:rPr lang="en-US" altLang="zh-CN" sz="2500" dirty="0">
                <a:latin typeface="宋体" panose="02010600030101010101" pitchFamily="2" charset="-122"/>
                <a:ea typeface="宋体" panose="02010600030101010101" pitchFamily="2" charset="-122"/>
              </a:rPr>
              <a:t>			</a:t>
            </a:r>
            <a:r>
              <a:rPr lang="zh-CN" altLang="en-US" sz="2500" dirty="0">
                <a:latin typeface="宋体" panose="02010600030101010101" pitchFamily="2" charset="-122"/>
                <a:ea typeface="宋体" panose="02010600030101010101" pitchFamily="2" charset="-122"/>
              </a:rPr>
              <a:t>预定义头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914409F4-1257-4125-8ACA-FDB3A6A11734}"/>
              </a:ext>
            </a:extLst>
          </p:cNvPr>
          <p:cNvSpPr/>
          <p:nvPr/>
        </p:nvSpPr>
        <p:spPr>
          <a:xfrm>
            <a:off x="416457" y="2448082"/>
            <a:ext cx="1783533" cy="7560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3F271AB-072F-4919-8B71-A666E4E12CAB}"/>
              </a:ext>
            </a:extLst>
          </p:cNvPr>
          <p:cNvSpPr/>
          <p:nvPr/>
        </p:nvSpPr>
        <p:spPr>
          <a:xfrm>
            <a:off x="416457" y="4700884"/>
            <a:ext cx="1783533" cy="56823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A98BD160-FBA9-456C-BEA2-4B8381047708}"/>
              </a:ext>
            </a:extLst>
          </p:cNvPr>
          <p:cNvSpPr/>
          <p:nvPr/>
        </p:nvSpPr>
        <p:spPr>
          <a:xfrm>
            <a:off x="416456" y="1514066"/>
            <a:ext cx="1783533" cy="16987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571167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83592481-556F-4839-97A0-AB95FFEA07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816519" cy="6858000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9AF5F094-3906-4E69-AA2A-656A3CBFE349}"/>
              </a:ext>
            </a:extLst>
          </p:cNvPr>
          <p:cNvSpPr txBox="1"/>
          <p:nvPr/>
        </p:nvSpPr>
        <p:spPr>
          <a:xfrm>
            <a:off x="2625450" y="140858"/>
            <a:ext cx="9057034" cy="23105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500" b="1" dirty="0">
                <a:latin typeface="宋体" panose="02010600030101010101" pitchFamily="2" charset="-122"/>
                <a:ea typeface="宋体" panose="02010600030101010101" pitchFamily="2" charset="-122"/>
              </a:rPr>
              <a:t>3. </a:t>
            </a:r>
            <a:r>
              <a:rPr lang="zh-CN" altLang="en-US" sz="2500" b="1" dirty="0">
                <a:latin typeface="宋体" panose="02010600030101010101" pitchFamily="2" charset="-122"/>
                <a:ea typeface="宋体" panose="02010600030101010101" pitchFamily="2" charset="-122"/>
              </a:rPr>
              <a:t>算法相关</a:t>
            </a:r>
            <a:endParaRPr lang="en-US" altLang="zh-CN" sz="25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500" dirty="0" err="1">
                <a:latin typeface="宋体" panose="02010600030101010101" pitchFamily="2" charset="-122"/>
                <a:ea typeface="宋体" panose="02010600030101010101" pitchFamily="2" charset="-122"/>
              </a:rPr>
              <a:t>alg_detection.h</a:t>
            </a:r>
            <a:r>
              <a:rPr lang="en-US" altLang="zh-CN" sz="2500" dirty="0">
                <a:latin typeface="宋体" panose="02010600030101010101" pitchFamily="2" charset="-122"/>
                <a:ea typeface="宋体" panose="02010600030101010101" pitchFamily="2" charset="-122"/>
              </a:rPr>
              <a:t>			</a:t>
            </a:r>
            <a:r>
              <a:rPr lang="zh-CN" altLang="en-US" sz="2500" dirty="0">
                <a:latin typeface="宋体" panose="02010600030101010101" pitchFamily="2" charset="-122"/>
                <a:ea typeface="宋体" panose="02010600030101010101" pitchFamily="2" charset="-122"/>
              </a:rPr>
              <a:t>算法基类</a:t>
            </a:r>
            <a:endParaRPr lang="en-US" altLang="zh-CN" sz="25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500" dirty="0" err="1">
                <a:latin typeface="宋体" panose="02010600030101010101" pitchFamily="2" charset="-122"/>
                <a:ea typeface="宋体" panose="02010600030101010101" pitchFamily="2" charset="-122"/>
              </a:rPr>
              <a:t>alg_dynamicLibLoader.h</a:t>
            </a:r>
            <a:r>
              <a:rPr lang="en-US" altLang="zh-CN" sz="2500" dirty="0">
                <a:latin typeface="宋体" panose="02010600030101010101" pitchFamily="2" charset="-122"/>
                <a:ea typeface="宋体" panose="02010600030101010101" pitchFamily="2" charset="-122"/>
              </a:rPr>
              <a:t>		</a:t>
            </a:r>
            <a:r>
              <a:rPr lang="zh-CN" altLang="en-US" sz="2500" dirty="0">
                <a:latin typeface="宋体" panose="02010600030101010101" pitchFamily="2" charset="-122"/>
                <a:ea typeface="宋体" panose="02010600030101010101" pitchFamily="2" charset="-122"/>
              </a:rPr>
              <a:t>动态加载算法</a:t>
            </a:r>
            <a:endParaRPr lang="en-US" altLang="zh-CN" sz="25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500" dirty="0" err="1">
                <a:latin typeface="宋体" panose="02010600030101010101" pitchFamily="2" charset="-122"/>
                <a:ea typeface="宋体" panose="02010600030101010101" pitchFamily="2" charset="-122"/>
              </a:rPr>
              <a:t>alg_performAlgorithms.h</a:t>
            </a:r>
            <a:r>
              <a:rPr lang="en-US" altLang="zh-CN" sz="2500" dirty="0">
                <a:latin typeface="宋体" panose="02010600030101010101" pitchFamily="2" charset="-122"/>
                <a:ea typeface="宋体" panose="02010600030101010101" pitchFamily="2" charset="-122"/>
              </a:rPr>
              <a:t>		</a:t>
            </a:r>
            <a:r>
              <a:rPr lang="zh-CN" altLang="en-US" sz="2500" dirty="0">
                <a:latin typeface="宋体" panose="02010600030101010101" pitchFamily="2" charset="-122"/>
                <a:ea typeface="宋体" panose="02010600030101010101" pitchFamily="2" charset="-122"/>
              </a:rPr>
              <a:t>算法实现与执行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3020665-D2BC-4273-A861-589D9608EE51}"/>
              </a:ext>
            </a:extLst>
          </p:cNvPr>
          <p:cNvSpPr/>
          <p:nvPr/>
        </p:nvSpPr>
        <p:spPr>
          <a:xfrm>
            <a:off x="416458" y="543211"/>
            <a:ext cx="1783533" cy="61563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8646AA26-5200-4696-8DDE-724ADBC45ECC}"/>
              </a:ext>
            </a:extLst>
          </p:cNvPr>
          <p:cNvSpPr/>
          <p:nvPr/>
        </p:nvSpPr>
        <p:spPr>
          <a:xfrm>
            <a:off x="416456" y="3578259"/>
            <a:ext cx="1783533" cy="36905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722520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83592481-556F-4839-97A0-AB95FFEA07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816519" cy="6858000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9AF5F094-3906-4E69-AA2A-656A3CBFE349}"/>
              </a:ext>
            </a:extLst>
          </p:cNvPr>
          <p:cNvSpPr txBox="1"/>
          <p:nvPr/>
        </p:nvSpPr>
        <p:spPr>
          <a:xfrm>
            <a:off x="2625450" y="140858"/>
            <a:ext cx="9057034" cy="5792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500" b="1" dirty="0">
                <a:latin typeface="宋体" panose="02010600030101010101" pitchFamily="2" charset="-122"/>
                <a:ea typeface="宋体" panose="02010600030101010101" pitchFamily="2" charset="-122"/>
              </a:rPr>
              <a:t>4. </a:t>
            </a:r>
            <a:r>
              <a:rPr lang="zh-CN" altLang="en-US" sz="2500" b="1" dirty="0">
                <a:latin typeface="宋体" panose="02010600030101010101" pitchFamily="2" charset="-122"/>
                <a:ea typeface="宋体" panose="02010600030101010101" pitchFamily="2" charset="-122"/>
              </a:rPr>
              <a:t>操作逻辑</a:t>
            </a:r>
            <a:endParaRPr lang="en-US" altLang="zh-CN" sz="25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2D1E6CA9-8107-438D-8C1B-F2DD385F2E61}"/>
              </a:ext>
            </a:extLst>
          </p:cNvPr>
          <p:cNvGrpSpPr/>
          <p:nvPr/>
        </p:nvGrpSpPr>
        <p:grpSpPr>
          <a:xfrm>
            <a:off x="3070671" y="5747291"/>
            <a:ext cx="1155450" cy="975732"/>
            <a:chOff x="3260943" y="2453489"/>
            <a:chExt cx="1155450" cy="975732"/>
          </a:xfrm>
        </p:grpSpPr>
        <p:sp>
          <p:nvSpPr>
            <p:cNvPr id="2" name="卷形: 垂直 1">
              <a:extLst>
                <a:ext uri="{FF2B5EF4-FFF2-40B4-BE49-F238E27FC236}">
                  <a16:creationId xmlns:a16="http://schemas.microsoft.com/office/drawing/2014/main" id="{0BB32B2C-7C0E-49B6-8400-87E60C63F708}"/>
                </a:ext>
              </a:extLst>
            </p:cNvPr>
            <p:cNvSpPr/>
            <p:nvPr/>
          </p:nvSpPr>
          <p:spPr>
            <a:xfrm>
              <a:off x="3594225" y="2453489"/>
              <a:ext cx="488887" cy="452512"/>
            </a:xfrm>
            <a:prstGeom prst="verticalScroll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0AF3A56E-9CE1-424C-99B5-BC7CF95B215E}"/>
                </a:ext>
              </a:extLst>
            </p:cNvPr>
            <p:cNvSpPr txBox="1"/>
            <p:nvPr/>
          </p:nvSpPr>
          <p:spPr>
            <a:xfrm>
              <a:off x="3260943" y="2906001"/>
              <a:ext cx="1155450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400" dirty="0">
                  <a:latin typeface="宋体" panose="02010600030101010101" pitchFamily="2" charset="-122"/>
                  <a:ea typeface="宋体" panose="02010600030101010101" pitchFamily="2" charset="-122"/>
                </a:rPr>
                <a:t>主界面线程</a:t>
              </a:r>
              <a:endParaRPr lang="en-US" altLang="zh-CN" sz="1400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  <a:p>
              <a:pPr algn="ctr"/>
              <a:r>
                <a:rPr lang="en-US" altLang="zh-CN" sz="1400" dirty="0" err="1">
                  <a:latin typeface="宋体" panose="02010600030101010101" pitchFamily="2" charset="-122"/>
                  <a:ea typeface="宋体" panose="02010600030101010101" pitchFamily="2" charset="-122"/>
                </a:rPr>
                <a:t>MainWindow</a:t>
              </a:r>
              <a:endParaRPr lang="zh-CN" altLang="en-US" sz="1400" dirty="0"/>
            </a:p>
          </p:txBody>
        </p:sp>
      </p:grp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3B8FE8D9-2F7C-4630-9669-E909BF83B96A}"/>
              </a:ext>
            </a:extLst>
          </p:cNvPr>
          <p:cNvGrpSpPr/>
          <p:nvPr/>
        </p:nvGrpSpPr>
        <p:grpSpPr>
          <a:xfrm>
            <a:off x="5258993" y="2905239"/>
            <a:ext cx="2000816" cy="1006510"/>
            <a:chOff x="6904342" y="685693"/>
            <a:chExt cx="2000816" cy="1006510"/>
          </a:xfrm>
        </p:grpSpPr>
        <p:sp>
          <p:nvSpPr>
            <p:cNvPr id="10" name="卷形: 垂直 9">
              <a:extLst>
                <a:ext uri="{FF2B5EF4-FFF2-40B4-BE49-F238E27FC236}">
                  <a16:creationId xmlns:a16="http://schemas.microsoft.com/office/drawing/2014/main" id="{40A0067A-FBAC-437A-8035-B5FF14C39BA0}"/>
                </a:ext>
              </a:extLst>
            </p:cNvPr>
            <p:cNvSpPr/>
            <p:nvPr/>
          </p:nvSpPr>
          <p:spPr>
            <a:xfrm>
              <a:off x="7660308" y="685693"/>
              <a:ext cx="488887" cy="452512"/>
            </a:xfrm>
            <a:prstGeom prst="verticalScroll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35334642-F169-4D18-BF5C-DC499B3E321F}"/>
                </a:ext>
              </a:extLst>
            </p:cNvPr>
            <p:cNvSpPr txBox="1"/>
            <p:nvPr/>
          </p:nvSpPr>
          <p:spPr>
            <a:xfrm>
              <a:off x="6904342" y="1138205"/>
              <a:ext cx="2000816" cy="55399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000" dirty="0">
                  <a:latin typeface="宋体" panose="02010600030101010101" pitchFamily="2" charset="-122"/>
                  <a:ea typeface="宋体" panose="02010600030101010101" pitchFamily="2" charset="-122"/>
                </a:rPr>
                <a:t>算法处理线程</a:t>
              </a:r>
              <a:endParaRPr lang="en-US" altLang="zh-CN" sz="1000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  <a:p>
              <a:pPr algn="ctr"/>
              <a:r>
                <a:rPr lang="en-US" altLang="zh-CN" sz="1000" dirty="0">
                  <a:latin typeface="宋体" panose="02010600030101010101" pitchFamily="2" charset="-122"/>
                  <a:ea typeface="宋体" panose="02010600030101010101" pitchFamily="2" charset="-122"/>
                </a:rPr>
                <a:t>Thread : </a:t>
              </a:r>
              <a:r>
                <a:rPr lang="en-US" altLang="zh-CN" sz="1000" u="sng" dirty="0" err="1">
                  <a:latin typeface="宋体" panose="02010600030101010101" pitchFamily="2" charset="-122"/>
                  <a:ea typeface="宋体" panose="02010600030101010101" pitchFamily="2" charset="-122"/>
                </a:rPr>
                <a:t>m_algorithmThread</a:t>
              </a:r>
              <a:endParaRPr lang="en-US" altLang="zh-CN" sz="1000" u="sng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  <a:p>
              <a:pPr algn="ctr"/>
              <a:r>
                <a:rPr lang="en-US" altLang="zh-CN" sz="1000" dirty="0" err="1">
                  <a:latin typeface="宋体" panose="02010600030101010101" pitchFamily="2" charset="-122"/>
                  <a:ea typeface="宋体" panose="02010600030101010101" pitchFamily="2" charset="-122"/>
                </a:rPr>
                <a:t>Varient</a:t>
              </a:r>
              <a:r>
                <a:rPr lang="en-US" altLang="zh-CN" sz="1000" dirty="0">
                  <a:latin typeface="宋体" panose="02010600030101010101" pitchFamily="2" charset="-122"/>
                  <a:ea typeface="宋体" panose="02010600030101010101" pitchFamily="2" charset="-122"/>
                </a:rPr>
                <a:t> : </a:t>
              </a:r>
              <a:r>
                <a:rPr lang="en-US" altLang="zh-CN" sz="1000" u="sng" dirty="0" err="1">
                  <a:latin typeface="宋体" panose="02010600030101010101" pitchFamily="2" charset="-122"/>
                  <a:ea typeface="宋体" panose="02010600030101010101" pitchFamily="2" charset="-122"/>
                </a:rPr>
                <a:t>m_algorithm</a:t>
              </a:r>
              <a:endParaRPr lang="zh-CN" altLang="en-US" sz="1000" u="sng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</p:grpSp>
      <p:grpSp>
        <p:nvGrpSpPr>
          <p:cNvPr id="8" name="组合 7">
            <a:extLst>
              <a:ext uri="{FF2B5EF4-FFF2-40B4-BE49-F238E27FC236}">
                <a16:creationId xmlns:a16="http://schemas.microsoft.com/office/drawing/2014/main" id="{9822579C-0B3B-4DE4-9681-7AE412579625}"/>
              </a:ext>
            </a:extLst>
          </p:cNvPr>
          <p:cNvGrpSpPr/>
          <p:nvPr/>
        </p:nvGrpSpPr>
        <p:grpSpPr>
          <a:xfrm>
            <a:off x="9130245" y="5747291"/>
            <a:ext cx="1745434" cy="1006510"/>
            <a:chOff x="6904342" y="4604678"/>
            <a:chExt cx="1745434" cy="1006510"/>
          </a:xfrm>
        </p:grpSpPr>
        <p:sp>
          <p:nvSpPr>
            <p:cNvPr id="13" name="卷形: 垂直 12">
              <a:extLst>
                <a:ext uri="{FF2B5EF4-FFF2-40B4-BE49-F238E27FC236}">
                  <a16:creationId xmlns:a16="http://schemas.microsoft.com/office/drawing/2014/main" id="{114C6284-CF4D-4565-9B9E-977F2937A3EE}"/>
                </a:ext>
              </a:extLst>
            </p:cNvPr>
            <p:cNvSpPr/>
            <p:nvPr/>
          </p:nvSpPr>
          <p:spPr>
            <a:xfrm>
              <a:off x="7529029" y="4604678"/>
              <a:ext cx="488887" cy="452512"/>
            </a:xfrm>
            <a:prstGeom prst="verticalScroll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40793FE7-7A86-4ED0-A2D0-67E0189B1C7F}"/>
                </a:ext>
              </a:extLst>
            </p:cNvPr>
            <p:cNvSpPr txBox="1"/>
            <p:nvPr/>
          </p:nvSpPr>
          <p:spPr>
            <a:xfrm>
              <a:off x="6904342" y="5057190"/>
              <a:ext cx="1745434" cy="55399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000" dirty="0">
                  <a:latin typeface="宋体" panose="02010600030101010101" pitchFamily="2" charset="-122"/>
                  <a:ea typeface="宋体" panose="02010600030101010101" pitchFamily="2" charset="-122"/>
                </a:rPr>
                <a:t>图像采集线程</a:t>
              </a:r>
              <a:endParaRPr lang="en-US" altLang="zh-CN" sz="1000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  <a:p>
              <a:pPr algn="ctr"/>
              <a:r>
                <a:rPr lang="en-US" altLang="zh-CN" sz="1000" dirty="0">
                  <a:solidFill>
                    <a:srgbClr val="800000"/>
                  </a:solidFill>
                  <a:effectLst/>
                  <a:latin typeface="宋体" panose="02010600030101010101" pitchFamily="2" charset="-122"/>
                  <a:ea typeface="宋体" panose="02010600030101010101" pitchFamily="2" charset="-122"/>
                </a:rPr>
                <a:t>Thread : </a:t>
              </a:r>
              <a:r>
                <a:rPr lang="en-US" altLang="zh-CN" sz="1000" u="sng" dirty="0" err="1">
                  <a:solidFill>
                    <a:srgbClr val="800000"/>
                  </a:solidFill>
                  <a:effectLst/>
                  <a:latin typeface="宋体" panose="02010600030101010101" pitchFamily="2" charset="-122"/>
                  <a:ea typeface="宋体" panose="02010600030101010101" pitchFamily="2" charset="-122"/>
                </a:rPr>
                <a:t>m_captureThread</a:t>
              </a:r>
              <a:endParaRPr lang="en-US" altLang="zh-CN" sz="1000" u="sng" dirty="0">
                <a:solidFill>
                  <a:srgbClr val="8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endParaRPr>
            </a:p>
            <a:p>
              <a:pPr algn="ctr"/>
              <a:r>
                <a:rPr lang="en-US" altLang="zh-CN" sz="1000" dirty="0" err="1">
                  <a:latin typeface="宋体" panose="02010600030101010101" pitchFamily="2" charset="-122"/>
                  <a:ea typeface="宋体" panose="02010600030101010101" pitchFamily="2" charset="-122"/>
                </a:rPr>
                <a:t>Varient</a:t>
              </a:r>
              <a:r>
                <a:rPr lang="en-US" altLang="zh-CN" sz="1000" dirty="0">
                  <a:latin typeface="宋体" panose="02010600030101010101" pitchFamily="2" charset="-122"/>
                  <a:ea typeface="宋体" panose="02010600030101010101" pitchFamily="2" charset="-122"/>
                </a:rPr>
                <a:t> : </a:t>
              </a:r>
              <a:r>
                <a:rPr lang="en-US" altLang="zh-CN" sz="1000" u="sng" dirty="0" err="1">
                  <a:latin typeface="宋体" panose="02010600030101010101" pitchFamily="2" charset="-122"/>
                  <a:ea typeface="宋体" panose="02010600030101010101" pitchFamily="2" charset="-122"/>
                </a:rPr>
                <a:t>m_capturer</a:t>
              </a:r>
              <a:endParaRPr lang="zh-CN" altLang="en-US" sz="1000" u="sng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</p:grp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ED5ACB1F-7A4D-4262-9FC3-C20B2ABD4D0B}"/>
              </a:ext>
            </a:extLst>
          </p:cNvPr>
          <p:cNvCxnSpPr>
            <a:cxnSpLocks/>
          </p:cNvCxnSpPr>
          <p:nvPr/>
        </p:nvCxnSpPr>
        <p:spPr>
          <a:xfrm flipV="1">
            <a:off x="4101795" y="3892271"/>
            <a:ext cx="1316975" cy="1524666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2" name="组合 41">
            <a:extLst>
              <a:ext uri="{FF2B5EF4-FFF2-40B4-BE49-F238E27FC236}">
                <a16:creationId xmlns:a16="http://schemas.microsoft.com/office/drawing/2014/main" id="{8B354AF9-9C48-4F48-A2BF-01D8267C3EBF}"/>
              </a:ext>
            </a:extLst>
          </p:cNvPr>
          <p:cNvGrpSpPr/>
          <p:nvPr/>
        </p:nvGrpSpPr>
        <p:grpSpPr>
          <a:xfrm>
            <a:off x="2990098" y="4348987"/>
            <a:ext cx="1533849" cy="1067950"/>
            <a:chOff x="3559768" y="1420692"/>
            <a:chExt cx="1533849" cy="1067950"/>
          </a:xfrm>
        </p:grpSpPr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DE272D06-A0F0-471D-B67B-799F92D10EAB}"/>
                </a:ext>
              </a:extLst>
            </p:cNvPr>
            <p:cNvSpPr txBox="1"/>
            <p:nvPr/>
          </p:nvSpPr>
          <p:spPr>
            <a:xfrm>
              <a:off x="3748044" y="1739911"/>
              <a:ext cx="1345573" cy="7487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171450" indent="-171450">
                <a:lnSpc>
                  <a:spcPct val="150000"/>
                </a:lnSpc>
                <a:buFont typeface="Wingdings" panose="05000000000000000000" pitchFamily="2" charset="2"/>
                <a:buChar char="p"/>
              </a:pPr>
              <a:r>
                <a:rPr lang="en-US" altLang="zh-CN" sz="1000" dirty="0" err="1">
                  <a:solidFill>
                    <a:srgbClr val="507BC8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startDetect</a:t>
              </a:r>
              <a:endParaRPr lang="en-US" altLang="zh-CN" sz="1000" dirty="0">
                <a:solidFill>
                  <a:srgbClr val="507BC8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  <a:p>
              <a:pPr marL="171450" indent="-171450">
                <a:lnSpc>
                  <a:spcPct val="150000"/>
                </a:lnSpc>
                <a:buFont typeface="Wingdings" panose="05000000000000000000" pitchFamily="2" charset="2"/>
                <a:buChar char="p"/>
              </a:pPr>
              <a:r>
                <a:rPr lang="en-US" altLang="zh-CN" sz="1000" dirty="0" err="1">
                  <a:solidFill>
                    <a:srgbClr val="507BC8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stopDetect</a:t>
              </a:r>
              <a:endParaRPr lang="en-US" altLang="zh-CN" sz="1000" dirty="0">
                <a:solidFill>
                  <a:srgbClr val="507BC8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  <a:p>
              <a:pPr marL="171450" indent="-171450">
                <a:lnSpc>
                  <a:spcPct val="150000"/>
                </a:lnSpc>
                <a:buFont typeface="Wingdings" panose="05000000000000000000" pitchFamily="2" charset="2"/>
                <a:buChar char="p"/>
              </a:pPr>
              <a:r>
                <a:rPr lang="en-US" altLang="zh-CN" sz="1000" dirty="0">
                  <a:solidFill>
                    <a:srgbClr val="507BC8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destroyed</a:t>
              </a:r>
            </a:p>
          </p:txBody>
        </p:sp>
        <p:sp>
          <p:nvSpPr>
            <p:cNvPr id="21" name="文本框 20">
              <a:extLst>
                <a:ext uri="{FF2B5EF4-FFF2-40B4-BE49-F238E27FC236}">
                  <a16:creationId xmlns:a16="http://schemas.microsoft.com/office/drawing/2014/main" id="{A4FAF6E0-C7D6-4CB7-8CB6-0C00C7423BAD}"/>
                </a:ext>
              </a:extLst>
            </p:cNvPr>
            <p:cNvSpPr txBox="1"/>
            <p:nvPr/>
          </p:nvSpPr>
          <p:spPr>
            <a:xfrm>
              <a:off x="3559768" y="1420692"/>
              <a:ext cx="1384050" cy="36503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285750" indent="-285750">
                <a:lnSpc>
                  <a:spcPct val="150000"/>
                </a:lnSpc>
                <a:buFont typeface="Wingdings" panose="05000000000000000000" pitchFamily="2" charset="2"/>
                <a:buChar char="Ø"/>
              </a:pPr>
              <a:r>
                <a:rPr lang="en-US" altLang="zh-CN" sz="1400" dirty="0">
                  <a:solidFill>
                    <a:srgbClr val="507BC8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Signal</a:t>
              </a:r>
            </a:p>
          </p:txBody>
        </p:sp>
      </p:grpSp>
      <p:grpSp>
        <p:nvGrpSpPr>
          <p:cNvPr id="41" name="组合 40">
            <a:extLst>
              <a:ext uri="{FF2B5EF4-FFF2-40B4-BE49-F238E27FC236}">
                <a16:creationId xmlns:a16="http://schemas.microsoft.com/office/drawing/2014/main" id="{877B63C9-A62D-4CB9-9C05-DC8D3E999491}"/>
              </a:ext>
            </a:extLst>
          </p:cNvPr>
          <p:cNvGrpSpPr/>
          <p:nvPr/>
        </p:nvGrpSpPr>
        <p:grpSpPr>
          <a:xfrm>
            <a:off x="4045234" y="2983806"/>
            <a:ext cx="1533849" cy="1067950"/>
            <a:chOff x="5705204" y="384780"/>
            <a:chExt cx="1533849" cy="1067950"/>
          </a:xfrm>
        </p:grpSpPr>
        <p:sp>
          <p:nvSpPr>
            <p:cNvPr id="22" name="文本框 21">
              <a:extLst>
                <a:ext uri="{FF2B5EF4-FFF2-40B4-BE49-F238E27FC236}">
                  <a16:creationId xmlns:a16="http://schemas.microsoft.com/office/drawing/2014/main" id="{EDAA884A-6799-4814-A64C-42F7247E9C04}"/>
                </a:ext>
              </a:extLst>
            </p:cNvPr>
            <p:cNvSpPr txBox="1"/>
            <p:nvPr/>
          </p:nvSpPr>
          <p:spPr>
            <a:xfrm>
              <a:off x="5893480" y="703999"/>
              <a:ext cx="1345573" cy="7487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171450" indent="-171450">
                <a:lnSpc>
                  <a:spcPct val="150000"/>
                </a:lnSpc>
                <a:buFont typeface="Wingdings" panose="05000000000000000000" pitchFamily="2" charset="2"/>
                <a:buChar char="p"/>
              </a:pPr>
              <a:r>
                <a:rPr lang="en-US" altLang="zh-CN" sz="1000" dirty="0" err="1">
                  <a:solidFill>
                    <a:srgbClr val="507BC8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startDetect</a:t>
              </a:r>
              <a:endParaRPr lang="en-US" altLang="zh-CN" sz="1000" dirty="0">
                <a:solidFill>
                  <a:srgbClr val="507BC8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  <a:p>
              <a:pPr marL="171450" indent="-171450">
                <a:lnSpc>
                  <a:spcPct val="150000"/>
                </a:lnSpc>
                <a:buFont typeface="Wingdings" panose="05000000000000000000" pitchFamily="2" charset="2"/>
                <a:buChar char="p"/>
              </a:pPr>
              <a:r>
                <a:rPr lang="en-US" altLang="zh-CN" sz="1000" dirty="0" err="1">
                  <a:solidFill>
                    <a:srgbClr val="507BC8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stopDetect</a:t>
              </a:r>
              <a:endParaRPr lang="en-US" altLang="zh-CN" sz="1000" dirty="0">
                <a:solidFill>
                  <a:srgbClr val="507BC8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  <a:p>
              <a:pPr marL="171450" indent="-171450">
                <a:lnSpc>
                  <a:spcPct val="150000"/>
                </a:lnSpc>
                <a:buFont typeface="Wingdings" panose="05000000000000000000" pitchFamily="2" charset="2"/>
                <a:buChar char="p"/>
              </a:pPr>
              <a:r>
                <a:rPr lang="en-US" altLang="zh-CN" sz="1000" dirty="0" err="1">
                  <a:solidFill>
                    <a:srgbClr val="507BC8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stopDetect</a:t>
              </a:r>
              <a:endParaRPr lang="en-US" altLang="zh-CN" sz="1000" dirty="0">
                <a:solidFill>
                  <a:srgbClr val="507BC8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23" name="文本框 22">
              <a:extLst>
                <a:ext uri="{FF2B5EF4-FFF2-40B4-BE49-F238E27FC236}">
                  <a16:creationId xmlns:a16="http://schemas.microsoft.com/office/drawing/2014/main" id="{44A5B0A0-E65F-4757-818D-703AC81FA199}"/>
                </a:ext>
              </a:extLst>
            </p:cNvPr>
            <p:cNvSpPr txBox="1"/>
            <p:nvPr/>
          </p:nvSpPr>
          <p:spPr>
            <a:xfrm>
              <a:off x="5705204" y="384780"/>
              <a:ext cx="1384050" cy="36503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285750" indent="-285750">
                <a:lnSpc>
                  <a:spcPct val="150000"/>
                </a:lnSpc>
                <a:buFont typeface="Wingdings" panose="05000000000000000000" pitchFamily="2" charset="2"/>
                <a:buChar char="Ø"/>
              </a:pPr>
              <a:r>
                <a:rPr lang="en-US" altLang="zh-CN" sz="1400" dirty="0">
                  <a:solidFill>
                    <a:srgbClr val="507BC8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Slots</a:t>
              </a:r>
            </a:p>
          </p:txBody>
        </p:sp>
      </p:grp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D0064F46-98F8-4351-950E-928CA66C13DE}"/>
              </a:ext>
            </a:extLst>
          </p:cNvPr>
          <p:cNvGrpSpPr/>
          <p:nvPr/>
        </p:nvGrpSpPr>
        <p:grpSpPr>
          <a:xfrm>
            <a:off x="5045099" y="4249084"/>
            <a:ext cx="1808878" cy="837118"/>
            <a:chOff x="5999887" y="1860451"/>
            <a:chExt cx="1808878" cy="837118"/>
          </a:xfrm>
        </p:grpSpPr>
        <p:sp>
          <p:nvSpPr>
            <p:cNvPr id="31" name="文本框 30">
              <a:extLst>
                <a:ext uri="{FF2B5EF4-FFF2-40B4-BE49-F238E27FC236}">
                  <a16:creationId xmlns:a16="http://schemas.microsoft.com/office/drawing/2014/main" id="{6BDDDA9D-F935-42D7-9956-BB1726CB8F71}"/>
                </a:ext>
              </a:extLst>
            </p:cNvPr>
            <p:cNvSpPr txBox="1"/>
            <p:nvPr/>
          </p:nvSpPr>
          <p:spPr>
            <a:xfrm>
              <a:off x="6188163" y="2179670"/>
              <a:ext cx="1620602" cy="5178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171450" indent="-171450">
                <a:lnSpc>
                  <a:spcPct val="150000"/>
                </a:lnSpc>
                <a:buFont typeface="Wingdings" panose="05000000000000000000" pitchFamily="2" charset="2"/>
                <a:buChar char="p"/>
              </a:pPr>
              <a:r>
                <a:rPr lang="en-US" altLang="zh-CN" sz="1000" dirty="0" err="1">
                  <a:solidFill>
                    <a:srgbClr val="00B05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calculatedResults</a:t>
              </a:r>
              <a:endParaRPr lang="en-US" altLang="zh-CN" sz="1000" dirty="0">
                <a:solidFill>
                  <a:srgbClr val="00B050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  <a:p>
              <a:pPr marL="171450" indent="-171450">
                <a:lnSpc>
                  <a:spcPct val="150000"/>
                </a:lnSpc>
                <a:buFont typeface="Wingdings" panose="05000000000000000000" pitchFamily="2" charset="2"/>
                <a:buChar char="p"/>
              </a:pPr>
              <a:r>
                <a:rPr lang="en-US" altLang="zh-CN" sz="1000" dirty="0" err="1">
                  <a:solidFill>
                    <a:srgbClr val="00B05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processErrors</a:t>
              </a:r>
              <a:endParaRPr lang="en-US" altLang="zh-CN" sz="1000" dirty="0">
                <a:solidFill>
                  <a:srgbClr val="00B050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32" name="文本框 31">
              <a:extLst>
                <a:ext uri="{FF2B5EF4-FFF2-40B4-BE49-F238E27FC236}">
                  <a16:creationId xmlns:a16="http://schemas.microsoft.com/office/drawing/2014/main" id="{8D49B15A-1008-41D9-8389-1506F2B46A7B}"/>
                </a:ext>
              </a:extLst>
            </p:cNvPr>
            <p:cNvSpPr txBox="1"/>
            <p:nvPr/>
          </p:nvSpPr>
          <p:spPr>
            <a:xfrm>
              <a:off x="5999887" y="1860451"/>
              <a:ext cx="1384050" cy="36503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285750" indent="-285750">
                <a:lnSpc>
                  <a:spcPct val="150000"/>
                </a:lnSpc>
                <a:buFont typeface="Wingdings" panose="05000000000000000000" pitchFamily="2" charset="2"/>
                <a:buChar char="Ø"/>
              </a:pPr>
              <a:r>
                <a:rPr lang="en-US" altLang="zh-CN" sz="1400" dirty="0">
                  <a:solidFill>
                    <a:srgbClr val="00B05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Signal</a:t>
              </a:r>
            </a:p>
          </p:txBody>
        </p:sp>
      </p:grpSp>
      <p:grpSp>
        <p:nvGrpSpPr>
          <p:cNvPr id="39" name="组合 38">
            <a:extLst>
              <a:ext uri="{FF2B5EF4-FFF2-40B4-BE49-F238E27FC236}">
                <a16:creationId xmlns:a16="http://schemas.microsoft.com/office/drawing/2014/main" id="{1B20760E-A4C9-497C-85C6-0093DC064D1E}"/>
              </a:ext>
            </a:extLst>
          </p:cNvPr>
          <p:cNvGrpSpPr/>
          <p:nvPr/>
        </p:nvGrpSpPr>
        <p:grpSpPr>
          <a:xfrm>
            <a:off x="4008005" y="5416006"/>
            <a:ext cx="1698447" cy="837118"/>
            <a:chOff x="4195033" y="2828041"/>
            <a:chExt cx="1698447" cy="837118"/>
          </a:xfrm>
        </p:grpSpPr>
        <p:sp>
          <p:nvSpPr>
            <p:cNvPr id="33" name="文本框 32">
              <a:extLst>
                <a:ext uri="{FF2B5EF4-FFF2-40B4-BE49-F238E27FC236}">
                  <a16:creationId xmlns:a16="http://schemas.microsoft.com/office/drawing/2014/main" id="{1C1246F2-6D06-43E3-99F9-19B7C5B2258A}"/>
                </a:ext>
              </a:extLst>
            </p:cNvPr>
            <p:cNvSpPr txBox="1"/>
            <p:nvPr/>
          </p:nvSpPr>
          <p:spPr>
            <a:xfrm>
              <a:off x="4383309" y="3147260"/>
              <a:ext cx="1510171" cy="5178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171450" indent="-171450">
                <a:lnSpc>
                  <a:spcPct val="150000"/>
                </a:lnSpc>
                <a:buFont typeface="Wingdings" panose="05000000000000000000" pitchFamily="2" charset="2"/>
                <a:buChar char="p"/>
              </a:pPr>
              <a:r>
                <a:rPr lang="en-US" altLang="zh-CN" sz="1000" dirty="0" err="1">
                  <a:solidFill>
                    <a:srgbClr val="00B05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onProcessResults</a:t>
              </a:r>
              <a:endParaRPr lang="en-US" altLang="zh-CN" sz="1000" dirty="0">
                <a:solidFill>
                  <a:srgbClr val="00B050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  <a:p>
              <a:pPr marL="171450" indent="-171450">
                <a:lnSpc>
                  <a:spcPct val="150000"/>
                </a:lnSpc>
                <a:buFont typeface="Wingdings" panose="05000000000000000000" pitchFamily="2" charset="2"/>
                <a:buChar char="p"/>
              </a:pPr>
              <a:r>
                <a:rPr lang="en-US" altLang="zh-CN" sz="1000" dirty="0" err="1">
                  <a:solidFill>
                    <a:srgbClr val="00B05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handlerErrors</a:t>
              </a:r>
              <a:endParaRPr lang="en-US" altLang="zh-CN" sz="1000" dirty="0">
                <a:solidFill>
                  <a:srgbClr val="00B050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34" name="文本框 33">
              <a:extLst>
                <a:ext uri="{FF2B5EF4-FFF2-40B4-BE49-F238E27FC236}">
                  <a16:creationId xmlns:a16="http://schemas.microsoft.com/office/drawing/2014/main" id="{F2663AEF-562C-40C1-9F1F-516B389A5CB0}"/>
                </a:ext>
              </a:extLst>
            </p:cNvPr>
            <p:cNvSpPr txBox="1"/>
            <p:nvPr/>
          </p:nvSpPr>
          <p:spPr>
            <a:xfrm>
              <a:off x="4195033" y="2828041"/>
              <a:ext cx="1384050" cy="36503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285750" indent="-285750">
                <a:lnSpc>
                  <a:spcPct val="150000"/>
                </a:lnSpc>
                <a:buFont typeface="Wingdings" panose="05000000000000000000" pitchFamily="2" charset="2"/>
                <a:buChar char="Ø"/>
              </a:pPr>
              <a:r>
                <a:rPr lang="en-US" altLang="zh-CN" sz="1400" dirty="0">
                  <a:solidFill>
                    <a:srgbClr val="00B05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Slots</a:t>
              </a:r>
            </a:p>
          </p:txBody>
        </p:sp>
      </p:grpSp>
      <p:cxnSp>
        <p:nvCxnSpPr>
          <p:cNvPr id="35" name="直接箭头连接符 34">
            <a:extLst>
              <a:ext uri="{FF2B5EF4-FFF2-40B4-BE49-F238E27FC236}">
                <a16:creationId xmlns:a16="http://schemas.microsoft.com/office/drawing/2014/main" id="{B556A936-E6B4-42A4-86F8-1DF526734D1C}"/>
              </a:ext>
            </a:extLst>
          </p:cNvPr>
          <p:cNvCxnSpPr>
            <a:cxnSpLocks/>
          </p:cNvCxnSpPr>
          <p:nvPr/>
        </p:nvCxnSpPr>
        <p:spPr>
          <a:xfrm rot="10800000" flipH="1" flipV="1">
            <a:off x="7259810" y="3892272"/>
            <a:ext cx="2373077" cy="1888770"/>
          </a:xfrm>
          <a:prstGeom prst="straightConnector1">
            <a:avLst/>
          </a:prstGeom>
          <a:ln w="1905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接箭头连接符 46">
            <a:extLst>
              <a:ext uri="{FF2B5EF4-FFF2-40B4-BE49-F238E27FC236}">
                <a16:creationId xmlns:a16="http://schemas.microsoft.com/office/drawing/2014/main" id="{238CC356-3052-487A-8C6A-F0E38EC922B8}"/>
              </a:ext>
            </a:extLst>
          </p:cNvPr>
          <p:cNvCxnSpPr>
            <a:cxnSpLocks/>
          </p:cNvCxnSpPr>
          <p:nvPr/>
        </p:nvCxnSpPr>
        <p:spPr>
          <a:xfrm rot="10800000" flipV="1">
            <a:off x="4190824" y="3981300"/>
            <a:ext cx="1316975" cy="1524666"/>
          </a:xfrm>
          <a:prstGeom prst="straightConnector1">
            <a:avLst/>
          </a:prstGeom>
          <a:ln w="190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接箭头连接符 49">
            <a:extLst>
              <a:ext uri="{FF2B5EF4-FFF2-40B4-BE49-F238E27FC236}">
                <a16:creationId xmlns:a16="http://schemas.microsoft.com/office/drawing/2014/main" id="{61E2B814-A71A-4B31-8109-970DCE559C73}"/>
              </a:ext>
            </a:extLst>
          </p:cNvPr>
          <p:cNvCxnSpPr>
            <a:cxnSpLocks/>
          </p:cNvCxnSpPr>
          <p:nvPr/>
        </p:nvCxnSpPr>
        <p:spPr>
          <a:xfrm flipH="1" flipV="1">
            <a:off x="7362835" y="3799248"/>
            <a:ext cx="2373077" cy="1888770"/>
          </a:xfrm>
          <a:prstGeom prst="straightConnector1">
            <a:avLst/>
          </a:prstGeom>
          <a:ln w="19050">
            <a:solidFill>
              <a:schemeClr val="tx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1" name="组合 50">
            <a:extLst>
              <a:ext uri="{FF2B5EF4-FFF2-40B4-BE49-F238E27FC236}">
                <a16:creationId xmlns:a16="http://schemas.microsoft.com/office/drawing/2014/main" id="{7D612306-614E-4C0F-838D-CFD97B359619}"/>
              </a:ext>
            </a:extLst>
          </p:cNvPr>
          <p:cNvGrpSpPr/>
          <p:nvPr/>
        </p:nvGrpSpPr>
        <p:grpSpPr>
          <a:xfrm>
            <a:off x="6598457" y="4249084"/>
            <a:ext cx="1808878" cy="837118"/>
            <a:chOff x="5999887" y="1860451"/>
            <a:chExt cx="1808878" cy="837118"/>
          </a:xfrm>
        </p:grpSpPr>
        <p:sp>
          <p:nvSpPr>
            <p:cNvPr id="52" name="文本框 51">
              <a:extLst>
                <a:ext uri="{FF2B5EF4-FFF2-40B4-BE49-F238E27FC236}">
                  <a16:creationId xmlns:a16="http://schemas.microsoft.com/office/drawing/2014/main" id="{A5242A02-34D3-4955-99BD-5CEA6A2F516A}"/>
                </a:ext>
              </a:extLst>
            </p:cNvPr>
            <p:cNvSpPr txBox="1"/>
            <p:nvPr/>
          </p:nvSpPr>
          <p:spPr>
            <a:xfrm>
              <a:off x="6188163" y="2179670"/>
              <a:ext cx="1620602" cy="5178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171450" indent="-171450">
                <a:lnSpc>
                  <a:spcPct val="150000"/>
                </a:lnSpc>
                <a:buFont typeface="Wingdings" panose="05000000000000000000" pitchFamily="2" charset="2"/>
                <a:buChar char="p"/>
              </a:pPr>
              <a:r>
                <a:rPr lang="en-US" altLang="zh-CN" sz="1000" dirty="0" err="1">
                  <a:solidFill>
                    <a:srgbClr val="FFC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startCaptureSignal</a:t>
              </a:r>
              <a:endParaRPr lang="en-US" altLang="zh-CN" sz="1000" dirty="0">
                <a:solidFill>
                  <a:srgbClr val="FFC000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  <a:p>
              <a:pPr marL="171450" indent="-171450">
                <a:lnSpc>
                  <a:spcPct val="150000"/>
                </a:lnSpc>
                <a:buFont typeface="Wingdings" panose="05000000000000000000" pitchFamily="2" charset="2"/>
                <a:buChar char="p"/>
              </a:pPr>
              <a:r>
                <a:rPr lang="en-US" altLang="zh-CN" sz="1000" dirty="0" err="1">
                  <a:solidFill>
                    <a:srgbClr val="FFC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stopCaptureSignal</a:t>
              </a:r>
              <a:endParaRPr lang="en-US" altLang="zh-CN" sz="1000" dirty="0">
                <a:solidFill>
                  <a:srgbClr val="FFC000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53" name="文本框 52">
              <a:extLst>
                <a:ext uri="{FF2B5EF4-FFF2-40B4-BE49-F238E27FC236}">
                  <a16:creationId xmlns:a16="http://schemas.microsoft.com/office/drawing/2014/main" id="{10271BFE-0C21-44BC-9878-1D012CAA0B9F}"/>
                </a:ext>
              </a:extLst>
            </p:cNvPr>
            <p:cNvSpPr txBox="1"/>
            <p:nvPr/>
          </p:nvSpPr>
          <p:spPr>
            <a:xfrm>
              <a:off x="5999887" y="1860451"/>
              <a:ext cx="1384050" cy="36503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285750" indent="-285750">
                <a:lnSpc>
                  <a:spcPct val="150000"/>
                </a:lnSpc>
                <a:buFont typeface="Wingdings" panose="05000000000000000000" pitchFamily="2" charset="2"/>
                <a:buChar char="Ø"/>
              </a:pPr>
              <a:r>
                <a:rPr lang="en-US" altLang="zh-CN" sz="1400" dirty="0">
                  <a:solidFill>
                    <a:srgbClr val="FFC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Signal</a:t>
              </a:r>
            </a:p>
          </p:txBody>
        </p:sp>
      </p:grpSp>
      <p:grpSp>
        <p:nvGrpSpPr>
          <p:cNvPr id="55" name="组合 54">
            <a:extLst>
              <a:ext uri="{FF2B5EF4-FFF2-40B4-BE49-F238E27FC236}">
                <a16:creationId xmlns:a16="http://schemas.microsoft.com/office/drawing/2014/main" id="{E30F9442-0798-455F-B8D4-C0DEF54C25B1}"/>
              </a:ext>
            </a:extLst>
          </p:cNvPr>
          <p:cNvGrpSpPr/>
          <p:nvPr/>
        </p:nvGrpSpPr>
        <p:grpSpPr>
          <a:xfrm>
            <a:off x="7649914" y="5416006"/>
            <a:ext cx="1698447" cy="837118"/>
            <a:chOff x="4195033" y="2828041"/>
            <a:chExt cx="1698447" cy="837118"/>
          </a:xfrm>
        </p:grpSpPr>
        <p:sp>
          <p:nvSpPr>
            <p:cNvPr id="56" name="文本框 55">
              <a:extLst>
                <a:ext uri="{FF2B5EF4-FFF2-40B4-BE49-F238E27FC236}">
                  <a16:creationId xmlns:a16="http://schemas.microsoft.com/office/drawing/2014/main" id="{085B9D53-4EBE-4494-A585-F49459B65217}"/>
                </a:ext>
              </a:extLst>
            </p:cNvPr>
            <p:cNvSpPr txBox="1"/>
            <p:nvPr/>
          </p:nvSpPr>
          <p:spPr>
            <a:xfrm>
              <a:off x="4383309" y="3147260"/>
              <a:ext cx="1510171" cy="5178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171450" indent="-171450">
                <a:lnSpc>
                  <a:spcPct val="150000"/>
                </a:lnSpc>
                <a:buFont typeface="Wingdings" panose="05000000000000000000" pitchFamily="2" charset="2"/>
                <a:buChar char="p"/>
              </a:pPr>
              <a:r>
                <a:rPr lang="en-US" altLang="zh-CN" sz="1000" dirty="0" err="1">
                  <a:solidFill>
                    <a:srgbClr val="FFC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startCapture</a:t>
              </a:r>
              <a:endParaRPr lang="en-US" altLang="zh-CN" sz="1000" dirty="0">
                <a:solidFill>
                  <a:srgbClr val="FFC000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  <a:p>
              <a:pPr marL="171450" indent="-171450">
                <a:lnSpc>
                  <a:spcPct val="150000"/>
                </a:lnSpc>
                <a:buFont typeface="Wingdings" panose="05000000000000000000" pitchFamily="2" charset="2"/>
                <a:buChar char="p"/>
              </a:pPr>
              <a:r>
                <a:rPr lang="en-US" altLang="zh-CN" sz="1000" dirty="0" err="1">
                  <a:solidFill>
                    <a:srgbClr val="FFC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stopCapture</a:t>
              </a:r>
              <a:endParaRPr lang="en-US" altLang="zh-CN" sz="1000" dirty="0">
                <a:solidFill>
                  <a:srgbClr val="FFC000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57" name="文本框 56">
              <a:extLst>
                <a:ext uri="{FF2B5EF4-FFF2-40B4-BE49-F238E27FC236}">
                  <a16:creationId xmlns:a16="http://schemas.microsoft.com/office/drawing/2014/main" id="{344325C6-58D1-43D3-9BD0-BE6AF9C5901D}"/>
                </a:ext>
              </a:extLst>
            </p:cNvPr>
            <p:cNvSpPr txBox="1"/>
            <p:nvPr/>
          </p:nvSpPr>
          <p:spPr>
            <a:xfrm>
              <a:off x="4195033" y="2828041"/>
              <a:ext cx="1384050" cy="36503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285750" indent="-285750">
                <a:lnSpc>
                  <a:spcPct val="150000"/>
                </a:lnSpc>
                <a:buFont typeface="Wingdings" panose="05000000000000000000" pitchFamily="2" charset="2"/>
                <a:buChar char="Ø"/>
              </a:pPr>
              <a:r>
                <a:rPr lang="en-US" altLang="zh-CN" sz="1400" dirty="0">
                  <a:solidFill>
                    <a:srgbClr val="FFC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Slots</a:t>
              </a:r>
            </a:p>
          </p:txBody>
        </p:sp>
      </p:grpSp>
      <p:grpSp>
        <p:nvGrpSpPr>
          <p:cNvPr id="58" name="组合 57">
            <a:extLst>
              <a:ext uri="{FF2B5EF4-FFF2-40B4-BE49-F238E27FC236}">
                <a16:creationId xmlns:a16="http://schemas.microsoft.com/office/drawing/2014/main" id="{35175D1F-C44A-4B41-B393-2BE5F9679106}"/>
              </a:ext>
            </a:extLst>
          </p:cNvPr>
          <p:cNvGrpSpPr/>
          <p:nvPr/>
        </p:nvGrpSpPr>
        <p:grpSpPr>
          <a:xfrm>
            <a:off x="9419462" y="4508596"/>
            <a:ext cx="1533849" cy="837118"/>
            <a:chOff x="3559768" y="1420692"/>
            <a:chExt cx="1533849" cy="837118"/>
          </a:xfrm>
        </p:grpSpPr>
        <p:sp>
          <p:nvSpPr>
            <p:cNvPr id="59" name="文本框 58">
              <a:extLst>
                <a:ext uri="{FF2B5EF4-FFF2-40B4-BE49-F238E27FC236}">
                  <a16:creationId xmlns:a16="http://schemas.microsoft.com/office/drawing/2014/main" id="{D99A6B3F-67D4-49C0-9B1B-3DC7BEF12A0F}"/>
                </a:ext>
              </a:extLst>
            </p:cNvPr>
            <p:cNvSpPr txBox="1"/>
            <p:nvPr/>
          </p:nvSpPr>
          <p:spPr>
            <a:xfrm>
              <a:off x="3748044" y="1739911"/>
              <a:ext cx="1345573" cy="5178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171450" indent="-171450">
                <a:lnSpc>
                  <a:spcPct val="150000"/>
                </a:lnSpc>
                <a:buFont typeface="Wingdings" panose="05000000000000000000" pitchFamily="2" charset="2"/>
                <a:buChar char="p"/>
              </a:pPr>
              <a:r>
                <a:rPr lang="en-US" altLang="zh-CN" sz="1000" dirty="0" err="1">
                  <a:solidFill>
                    <a:srgbClr val="8C9EB5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imageCaptured</a:t>
              </a:r>
              <a:endParaRPr lang="en-US" altLang="zh-CN" sz="1000" dirty="0">
                <a:solidFill>
                  <a:srgbClr val="8C9EB5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  <a:p>
              <a:pPr marL="171450" indent="-171450">
                <a:lnSpc>
                  <a:spcPct val="150000"/>
                </a:lnSpc>
                <a:buFont typeface="Wingdings" panose="05000000000000000000" pitchFamily="2" charset="2"/>
                <a:buChar char="p"/>
              </a:pPr>
              <a:r>
                <a:rPr lang="en-US" altLang="zh-CN" sz="1000" dirty="0" err="1">
                  <a:solidFill>
                    <a:srgbClr val="8C9EB5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captureError</a:t>
              </a:r>
              <a:endParaRPr lang="en-US" altLang="zh-CN" sz="1000" dirty="0">
                <a:solidFill>
                  <a:srgbClr val="8C9EB5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60" name="文本框 59">
              <a:extLst>
                <a:ext uri="{FF2B5EF4-FFF2-40B4-BE49-F238E27FC236}">
                  <a16:creationId xmlns:a16="http://schemas.microsoft.com/office/drawing/2014/main" id="{2E29F896-F1F5-4B15-BEB9-2CDADE400D82}"/>
                </a:ext>
              </a:extLst>
            </p:cNvPr>
            <p:cNvSpPr txBox="1"/>
            <p:nvPr/>
          </p:nvSpPr>
          <p:spPr>
            <a:xfrm>
              <a:off x="3559768" y="1420692"/>
              <a:ext cx="1384050" cy="36503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285750" indent="-285750">
                <a:lnSpc>
                  <a:spcPct val="150000"/>
                </a:lnSpc>
                <a:buFont typeface="Wingdings" panose="05000000000000000000" pitchFamily="2" charset="2"/>
                <a:buChar char="Ø"/>
              </a:pPr>
              <a:r>
                <a:rPr lang="en-US" altLang="zh-CN" sz="1400" dirty="0">
                  <a:solidFill>
                    <a:srgbClr val="8C9EB5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Signal</a:t>
              </a:r>
            </a:p>
          </p:txBody>
        </p:sp>
      </p:grpSp>
      <p:grpSp>
        <p:nvGrpSpPr>
          <p:cNvPr id="61" name="组合 60">
            <a:extLst>
              <a:ext uri="{FF2B5EF4-FFF2-40B4-BE49-F238E27FC236}">
                <a16:creationId xmlns:a16="http://schemas.microsoft.com/office/drawing/2014/main" id="{CD120B8C-416A-4BCA-B659-AD674DAE24DE}"/>
              </a:ext>
            </a:extLst>
          </p:cNvPr>
          <p:cNvGrpSpPr/>
          <p:nvPr/>
        </p:nvGrpSpPr>
        <p:grpSpPr>
          <a:xfrm>
            <a:off x="7500115" y="3076312"/>
            <a:ext cx="1533849" cy="837118"/>
            <a:chOff x="5705204" y="384780"/>
            <a:chExt cx="1533849" cy="837118"/>
          </a:xfrm>
        </p:grpSpPr>
        <p:sp>
          <p:nvSpPr>
            <p:cNvPr id="62" name="文本框 61">
              <a:extLst>
                <a:ext uri="{FF2B5EF4-FFF2-40B4-BE49-F238E27FC236}">
                  <a16:creationId xmlns:a16="http://schemas.microsoft.com/office/drawing/2014/main" id="{EEF38C84-6CC5-4DD3-B6C0-679A7FF110EA}"/>
                </a:ext>
              </a:extLst>
            </p:cNvPr>
            <p:cNvSpPr txBox="1"/>
            <p:nvPr/>
          </p:nvSpPr>
          <p:spPr>
            <a:xfrm>
              <a:off x="5893480" y="703999"/>
              <a:ext cx="1345573" cy="5178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171450" indent="-171450">
                <a:lnSpc>
                  <a:spcPct val="150000"/>
                </a:lnSpc>
                <a:buFont typeface="Wingdings" panose="05000000000000000000" pitchFamily="2" charset="2"/>
                <a:buChar char="p"/>
              </a:pPr>
              <a:r>
                <a:rPr lang="en-US" altLang="zh-CN" sz="1000" dirty="0" err="1">
                  <a:solidFill>
                    <a:srgbClr val="8C9EB5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recvImage</a:t>
              </a:r>
              <a:endParaRPr lang="en-US" altLang="zh-CN" sz="1000" dirty="0">
                <a:solidFill>
                  <a:srgbClr val="8C9EB5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  <a:p>
              <a:pPr marL="171450" indent="-171450">
                <a:lnSpc>
                  <a:spcPct val="150000"/>
                </a:lnSpc>
                <a:buFont typeface="Wingdings" panose="05000000000000000000" pitchFamily="2" charset="2"/>
                <a:buChar char="p"/>
              </a:pPr>
              <a:r>
                <a:rPr lang="en-US" altLang="zh-CN" sz="1000" dirty="0" err="1">
                  <a:solidFill>
                    <a:srgbClr val="8C9EB5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recvErrors</a:t>
              </a:r>
              <a:endParaRPr lang="en-US" altLang="zh-CN" sz="1000" dirty="0">
                <a:solidFill>
                  <a:srgbClr val="8C9EB5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63" name="文本框 62">
              <a:extLst>
                <a:ext uri="{FF2B5EF4-FFF2-40B4-BE49-F238E27FC236}">
                  <a16:creationId xmlns:a16="http://schemas.microsoft.com/office/drawing/2014/main" id="{74812D6F-4462-475F-930D-EBF15F25654B}"/>
                </a:ext>
              </a:extLst>
            </p:cNvPr>
            <p:cNvSpPr txBox="1"/>
            <p:nvPr/>
          </p:nvSpPr>
          <p:spPr>
            <a:xfrm>
              <a:off x="5705204" y="384780"/>
              <a:ext cx="1384050" cy="36503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285750" indent="-285750">
                <a:lnSpc>
                  <a:spcPct val="150000"/>
                </a:lnSpc>
                <a:buFont typeface="Wingdings" panose="05000000000000000000" pitchFamily="2" charset="2"/>
                <a:buChar char="Ø"/>
              </a:pPr>
              <a:r>
                <a:rPr lang="en-US" altLang="zh-CN" sz="1400" dirty="0">
                  <a:solidFill>
                    <a:srgbClr val="8C9EB5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Slots</a:t>
              </a:r>
            </a:p>
          </p:txBody>
        </p:sp>
      </p:grpSp>
      <p:sp>
        <p:nvSpPr>
          <p:cNvPr id="67" name="文本框 66">
            <a:extLst>
              <a:ext uri="{FF2B5EF4-FFF2-40B4-BE49-F238E27FC236}">
                <a16:creationId xmlns:a16="http://schemas.microsoft.com/office/drawing/2014/main" id="{17EA047D-22BA-42DD-808E-EAC36FBFA29C}"/>
              </a:ext>
            </a:extLst>
          </p:cNvPr>
          <p:cNvSpPr txBox="1"/>
          <p:nvPr/>
        </p:nvSpPr>
        <p:spPr>
          <a:xfrm>
            <a:off x="2985789" y="756025"/>
            <a:ext cx="8168079" cy="18300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1100" dirty="0">
                <a:solidFill>
                  <a:srgbClr val="00B05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开机自动开启图像采集线程和算法处理线程</a:t>
            </a:r>
            <a:endParaRPr lang="en-US" altLang="zh-CN" sz="1100" dirty="0">
              <a:solidFill>
                <a:srgbClr val="00B05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1100" dirty="0">
                <a:solidFill>
                  <a:srgbClr val="00B05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图像采集线程</a:t>
            </a:r>
            <a:endParaRPr lang="en-US" altLang="zh-CN" sz="1100" dirty="0">
              <a:solidFill>
                <a:srgbClr val="00B05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1200150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1100" dirty="0">
                <a:solidFill>
                  <a:srgbClr val="00B05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初始化相机，如相机掉线，则尝试重新连接</a:t>
            </a:r>
            <a:endParaRPr lang="en-US" altLang="zh-CN" sz="1100" dirty="0">
              <a:solidFill>
                <a:srgbClr val="00B05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1200150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1100" dirty="0">
                <a:solidFill>
                  <a:srgbClr val="00B05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每</a:t>
            </a:r>
            <a:r>
              <a:rPr lang="en-US" altLang="zh-CN" sz="1100" dirty="0">
                <a:solidFill>
                  <a:srgbClr val="00B05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n(</a:t>
            </a:r>
            <a:r>
              <a:rPr lang="en-US" altLang="zh-CN" sz="1100" dirty="0" err="1">
                <a:solidFill>
                  <a:srgbClr val="00B05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ms</a:t>
            </a:r>
            <a:r>
              <a:rPr lang="en-US" altLang="zh-CN" sz="1100" dirty="0">
                <a:solidFill>
                  <a:srgbClr val="00B05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) </a:t>
            </a:r>
            <a:r>
              <a:rPr lang="zh-CN" altLang="en-US" sz="1100" dirty="0">
                <a:solidFill>
                  <a:srgbClr val="00B05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触发一次，采集图像，并发送给算法处理线程</a:t>
            </a:r>
            <a:endParaRPr lang="en-US" altLang="zh-CN" sz="1100" dirty="0">
              <a:solidFill>
                <a:srgbClr val="00B05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1100" dirty="0">
                <a:solidFill>
                  <a:srgbClr val="00B05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算法处理线程：</a:t>
            </a:r>
            <a:endParaRPr lang="en-US" altLang="zh-CN" sz="1100" dirty="0">
              <a:solidFill>
                <a:srgbClr val="00B05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1200150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1100" dirty="0">
                <a:solidFill>
                  <a:srgbClr val="00B05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初始化</a:t>
            </a:r>
            <a:r>
              <a:rPr lang="en-US" altLang="zh-CN" sz="1100" dirty="0">
                <a:solidFill>
                  <a:srgbClr val="00B05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Line</a:t>
            </a:r>
            <a:r>
              <a:rPr lang="zh-CN" altLang="en-US" sz="1100" dirty="0">
                <a:solidFill>
                  <a:srgbClr val="00B05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和</a:t>
            </a:r>
            <a:r>
              <a:rPr lang="en-US" altLang="zh-CN" sz="1100" dirty="0">
                <a:solidFill>
                  <a:srgbClr val="00B05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Block</a:t>
            </a:r>
            <a:r>
              <a:rPr lang="zh-CN" altLang="en-US" sz="1100" dirty="0">
                <a:solidFill>
                  <a:srgbClr val="00B05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算法，并将边界、中心位置等参数初始化</a:t>
            </a:r>
            <a:endParaRPr lang="en-US" altLang="zh-CN" sz="1100" dirty="0">
              <a:solidFill>
                <a:srgbClr val="00B05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1200150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1100" dirty="0">
                <a:solidFill>
                  <a:srgbClr val="00B05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响应图像信号，计算中心区域后，输出</a:t>
            </a:r>
            <a:r>
              <a:rPr lang="en-US" altLang="zh-CN" sz="1100" dirty="0">
                <a:solidFill>
                  <a:srgbClr val="00B05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PWM</a:t>
            </a:r>
            <a:r>
              <a:rPr lang="zh-CN" altLang="en-US" sz="1100" dirty="0">
                <a:solidFill>
                  <a:srgbClr val="00B05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，并将结果封装在 </a:t>
            </a:r>
            <a:r>
              <a:rPr lang="en-US" altLang="zh-CN" sz="1100" b="1" dirty="0" err="1">
                <a:solidFill>
                  <a:srgbClr val="800080"/>
                </a:solidFill>
                <a:effectLst/>
              </a:rPr>
              <a:t>FrameData</a:t>
            </a:r>
            <a:r>
              <a:rPr lang="zh-CN" altLang="en-US" sz="1100" dirty="0">
                <a:solidFill>
                  <a:srgbClr val="00B05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中发送给主界面进行显示</a:t>
            </a:r>
            <a:r>
              <a:rPr lang="en-US" altLang="zh-CN" sz="1100" dirty="0">
                <a:solidFill>
                  <a:srgbClr val="00B05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/</a:t>
            </a:r>
            <a:r>
              <a:rPr lang="zh-CN" altLang="en-US" sz="1100" dirty="0">
                <a:solidFill>
                  <a:srgbClr val="00B05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设置</a:t>
            </a:r>
            <a:endParaRPr lang="en-US" altLang="zh-CN" sz="1100" dirty="0">
              <a:solidFill>
                <a:srgbClr val="00B05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8587222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83592481-556F-4839-97A0-AB95FFEA07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816519" cy="6858000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9AF5F094-3906-4E69-AA2A-656A3CBFE349}"/>
              </a:ext>
            </a:extLst>
          </p:cNvPr>
          <p:cNvSpPr txBox="1"/>
          <p:nvPr/>
        </p:nvSpPr>
        <p:spPr>
          <a:xfrm>
            <a:off x="2625450" y="140858"/>
            <a:ext cx="9057034" cy="5792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500" b="1" dirty="0">
                <a:latin typeface="宋体" panose="02010600030101010101" pitchFamily="2" charset="-122"/>
                <a:ea typeface="宋体" panose="02010600030101010101" pitchFamily="2" charset="-122"/>
              </a:rPr>
              <a:t>4. </a:t>
            </a:r>
            <a:r>
              <a:rPr lang="zh-CN" altLang="en-US" sz="2500" b="1" dirty="0">
                <a:latin typeface="宋体" panose="02010600030101010101" pitchFamily="2" charset="-122"/>
                <a:ea typeface="宋体" panose="02010600030101010101" pitchFamily="2" charset="-122"/>
              </a:rPr>
              <a:t>标定界面唤醒</a:t>
            </a:r>
            <a:endParaRPr lang="en-US" altLang="zh-CN" sz="25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2D1E6CA9-8107-438D-8C1B-F2DD385F2E61}"/>
              </a:ext>
            </a:extLst>
          </p:cNvPr>
          <p:cNvGrpSpPr/>
          <p:nvPr/>
        </p:nvGrpSpPr>
        <p:grpSpPr>
          <a:xfrm>
            <a:off x="3070671" y="4081458"/>
            <a:ext cx="1155450" cy="975732"/>
            <a:chOff x="3260943" y="2453489"/>
            <a:chExt cx="1155450" cy="975732"/>
          </a:xfrm>
        </p:grpSpPr>
        <p:sp>
          <p:nvSpPr>
            <p:cNvPr id="2" name="卷形: 垂直 1">
              <a:extLst>
                <a:ext uri="{FF2B5EF4-FFF2-40B4-BE49-F238E27FC236}">
                  <a16:creationId xmlns:a16="http://schemas.microsoft.com/office/drawing/2014/main" id="{0BB32B2C-7C0E-49B6-8400-87E60C63F708}"/>
                </a:ext>
              </a:extLst>
            </p:cNvPr>
            <p:cNvSpPr/>
            <p:nvPr/>
          </p:nvSpPr>
          <p:spPr>
            <a:xfrm>
              <a:off x="3594225" y="2453489"/>
              <a:ext cx="488887" cy="452512"/>
            </a:xfrm>
            <a:prstGeom prst="verticalScroll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0AF3A56E-9CE1-424C-99B5-BC7CF95B215E}"/>
                </a:ext>
              </a:extLst>
            </p:cNvPr>
            <p:cNvSpPr txBox="1"/>
            <p:nvPr/>
          </p:nvSpPr>
          <p:spPr>
            <a:xfrm>
              <a:off x="3260943" y="2906001"/>
              <a:ext cx="1155450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400" dirty="0">
                  <a:latin typeface="宋体" panose="02010600030101010101" pitchFamily="2" charset="-122"/>
                  <a:ea typeface="宋体" panose="02010600030101010101" pitchFamily="2" charset="-122"/>
                </a:rPr>
                <a:t>主界面</a:t>
              </a:r>
              <a:endParaRPr lang="en-US" altLang="zh-CN" sz="1400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  <a:p>
              <a:pPr algn="ctr"/>
              <a:r>
                <a:rPr lang="en-US" altLang="zh-CN" sz="1400" dirty="0" err="1">
                  <a:latin typeface="宋体" panose="02010600030101010101" pitchFamily="2" charset="-122"/>
                  <a:ea typeface="宋体" panose="02010600030101010101" pitchFamily="2" charset="-122"/>
                </a:rPr>
                <a:t>MainWindow</a:t>
              </a:r>
              <a:endParaRPr lang="zh-CN" altLang="en-US" sz="1400" dirty="0"/>
            </a:p>
          </p:txBody>
        </p:sp>
      </p:grpSp>
      <p:cxnSp>
        <p:nvCxnSpPr>
          <p:cNvPr id="47" name="直接箭头连接符 46">
            <a:extLst>
              <a:ext uri="{FF2B5EF4-FFF2-40B4-BE49-F238E27FC236}">
                <a16:creationId xmlns:a16="http://schemas.microsoft.com/office/drawing/2014/main" id="{238CC356-3052-487A-8C6A-F0E38EC922B8}"/>
              </a:ext>
            </a:extLst>
          </p:cNvPr>
          <p:cNvCxnSpPr>
            <a:cxnSpLocks/>
          </p:cNvCxnSpPr>
          <p:nvPr/>
        </p:nvCxnSpPr>
        <p:spPr>
          <a:xfrm flipH="1">
            <a:off x="4445425" y="2315467"/>
            <a:ext cx="1062375" cy="1229914"/>
          </a:xfrm>
          <a:prstGeom prst="straightConnector1">
            <a:avLst/>
          </a:prstGeom>
          <a:ln w="190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3" name="组合 42">
            <a:extLst>
              <a:ext uri="{FF2B5EF4-FFF2-40B4-BE49-F238E27FC236}">
                <a16:creationId xmlns:a16="http://schemas.microsoft.com/office/drawing/2014/main" id="{2F945CB0-B989-4FB8-9139-AFDEC3A55B97}"/>
              </a:ext>
            </a:extLst>
          </p:cNvPr>
          <p:cNvGrpSpPr/>
          <p:nvPr/>
        </p:nvGrpSpPr>
        <p:grpSpPr>
          <a:xfrm>
            <a:off x="7408620" y="4081458"/>
            <a:ext cx="1602426" cy="975732"/>
            <a:chOff x="3037455" y="2453489"/>
            <a:chExt cx="1602426" cy="975732"/>
          </a:xfrm>
        </p:grpSpPr>
        <p:sp>
          <p:nvSpPr>
            <p:cNvPr id="44" name="卷形: 垂直 43">
              <a:extLst>
                <a:ext uri="{FF2B5EF4-FFF2-40B4-BE49-F238E27FC236}">
                  <a16:creationId xmlns:a16="http://schemas.microsoft.com/office/drawing/2014/main" id="{9F595E0F-48A2-44D6-9BC4-A1B023EB30DA}"/>
                </a:ext>
              </a:extLst>
            </p:cNvPr>
            <p:cNvSpPr/>
            <p:nvPr/>
          </p:nvSpPr>
          <p:spPr>
            <a:xfrm>
              <a:off x="3594225" y="2453489"/>
              <a:ext cx="488887" cy="452512"/>
            </a:xfrm>
            <a:prstGeom prst="verticalScroll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3637B734-C5C8-4D69-97A2-1CFD069936E7}"/>
                </a:ext>
              </a:extLst>
            </p:cNvPr>
            <p:cNvSpPr txBox="1"/>
            <p:nvPr/>
          </p:nvSpPr>
          <p:spPr>
            <a:xfrm>
              <a:off x="3037455" y="2906001"/>
              <a:ext cx="1602426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400" dirty="0">
                  <a:latin typeface="宋体" panose="02010600030101010101" pitchFamily="2" charset="-122"/>
                  <a:ea typeface="宋体" panose="02010600030101010101" pitchFamily="2" charset="-122"/>
                </a:rPr>
                <a:t>设置界面</a:t>
              </a:r>
              <a:endParaRPr lang="en-US" altLang="zh-CN" sz="1400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  <a:p>
              <a:pPr algn="ctr"/>
              <a:r>
                <a:rPr lang="en-US" altLang="zh-CN" sz="1400" dirty="0" err="1">
                  <a:latin typeface="宋体" panose="02010600030101010101" pitchFamily="2" charset="-122"/>
                  <a:ea typeface="宋体" panose="02010600030101010101" pitchFamily="2" charset="-122"/>
                </a:rPr>
                <a:t>Settings_Dialog</a:t>
              </a:r>
              <a:endParaRPr lang="zh-CN" altLang="en-US" sz="1400" dirty="0"/>
            </a:p>
          </p:txBody>
        </p:sp>
      </p:grpSp>
      <p:grpSp>
        <p:nvGrpSpPr>
          <p:cNvPr id="46" name="组合 45">
            <a:extLst>
              <a:ext uri="{FF2B5EF4-FFF2-40B4-BE49-F238E27FC236}">
                <a16:creationId xmlns:a16="http://schemas.microsoft.com/office/drawing/2014/main" id="{6E2174AF-4072-4A10-874C-36E037994FE0}"/>
              </a:ext>
            </a:extLst>
          </p:cNvPr>
          <p:cNvGrpSpPr/>
          <p:nvPr/>
        </p:nvGrpSpPr>
        <p:grpSpPr>
          <a:xfrm>
            <a:off x="5258993" y="1239406"/>
            <a:ext cx="2000816" cy="1006510"/>
            <a:chOff x="6904342" y="685693"/>
            <a:chExt cx="2000816" cy="1006510"/>
          </a:xfrm>
        </p:grpSpPr>
        <p:sp>
          <p:nvSpPr>
            <p:cNvPr id="48" name="卷形: 垂直 47">
              <a:extLst>
                <a:ext uri="{FF2B5EF4-FFF2-40B4-BE49-F238E27FC236}">
                  <a16:creationId xmlns:a16="http://schemas.microsoft.com/office/drawing/2014/main" id="{43B7A73A-6BF2-4082-9FAB-C54D107571D1}"/>
                </a:ext>
              </a:extLst>
            </p:cNvPr>
            <p:cNvSpPr/>
            <p:nvPr/>
          </p:nvSpPr>
          <p:spPr>
            <a:xfrm>
              <a:off x="7660308" y="685693"/>
              <a:ext cx="488887" cy="452512"/>
            </a:xfrm>
            <a:prstGeom prst="verticalScroll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9" name="文本框 48">
              <a:extLst>
                <a:ext uri="{FF2B5EF4-FFF2-40B4-BE49-F238E27FC236}">
                  <a16:creationId xmlns:a16="http://schemas.microsoft.com/office/drawing/2014/main" id="{E8CD51B5-C164-4DE8-ABD3-4E458DBE7E4A}"/>
                </a:ext>
              </a:extLst>
            </p:cNvPr>
            <p:cNvSpPr txBox="1"/>
            <p:nvPr/>
          </p:nvSpPr>
          <p:spPr>
            <a:xfrm>
              <a:off x="6904342" y="1138205"/>
              <a:ext cx="2000816" cy="55399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000" dirty="0">
                  <a:latin typeface="宋体" panose="02010600030101010101" pitchFamily="2" charset="-122"/>
                  <a:ea typeface="宋体" panose="02010600030101010101" pitchFamily="2" charset="-122"/>
                </a:rPr>
                <a:t>算法处理线程</a:t>
              </a:r>
              <a:endParaRPr lang="en-US" altLang="zh-CN" sz="1000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  <a:p>
              <a:pPr algn="ctr"/>
              <a:r>
                <a:rPr lang="en-US" altLang="zh-CN" sz="1000" dirty="0">
                  <a:latin typeface="宋体" panose="02010600030101010101" pitchFamily="2" charset="-122"/>
                  <a:ea typeface="宋体" panose="02010600030101010101" pitchFamily="2" charset="-122"/>
                </a:rPr>
                <a:t>Thread : </a:t>
              </a:r>
              <a:r>
                <a:rPr lang="en-US" altLang="zh-CN" sz="1000" u="sng" dirty="0" err="1">
                  <a:latin typeface="宋体" panose="02010600030101010101" pitchFamily="2" charset="-122"/>
                  <a:ea typeface="宋体" panose="02010600030101010101" pitchFamily="2" charset="-122"/>
                </a:rPr>
                <a:t>m_algorithmThread</a:t>
              </a:r>
              <a:endParaRPr lang="en-US" altLang="zh-CN" sz="1000" u="sng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  <a:p>
              <a:pPr algn="ctr"/>
              <a:r>
                <a:rPr lang="en-US" altLang="zh-CN" sz="1000" dirty="0" err="1">
                  <a:latin typeface="宋体" panose="02010600030101010101" pitchFamily="2" charset="-122"/>
                  <a:ea typeface="宋体" panose="02010600030101010101" pitchFamily="2" charset="-122"/>
                </a:rPr>
                <a:t>Varient</a:t>
              </a:r>
              <a:r>
                <a:rPr lang="en-US" altLang="zh-CN" sz="1000" dirty="0">
                  <a:latin typeface="宋体" panose="02010600030101010101" pitchFamily="2" charset="-122"/>
                  <a:ea typeface="宋体" panose="02010600030101010101" pitchFamily="2" charset="-122"/>
                </a:rPr>
                <a:t> : </a:t>
              </a:r>
              <a:r>
                <a:rPr lang="en-US" altLang="zh-CN" sz="1000" u="sng" dirty="0" err="1">
                  <a:latin typeface="宋体" panose="02010600030101010101" pitchFamily="2" charset="-122"/>
                  <a:ea typeface="宋体" panose="02010600030101010101" pitchFamily="2" charset="-122"/>
                </a:rPr>
                <a:t>m_algorithm</a:t>
              </a:r>
              <a:endParaRPr lang="zh-CN" altLang="en-US" sz="1000" u="sng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</p:grpSp>
      <p:grpSp>
        <p:nvGrpSpPr>
          <p:cNvPr id="54" name="组合 53">
            <a:extLst>
              <a:ext uri="{FF2B5EF4-FFF2-40B4-BE49-F238E27FC236}">
                <a16:creationId xmlns:a16="http://schemas.microsoft.com/office/drawing/2014/main" id="{F10B18A2-99BA-4DBB-A5C3-9B544990CE11}"/>
              </a:ext>
            </a:extLst>
          </p:cNvPr>
          <p:cNvGrpSpPr/>
          <p:nvPr/>
        </p:nvGrpSpPr>
        <p:grpSpPr>
          <a:xfrm>
            <a:off x="8617210" y="1239406"/>
            <a:ext cx="1745434" cy="1006510"/>
            <a:chOff x="6904342" y="4604678"/>
            <a:chExt cx="1745434" cy="1006510"/>
          </a:xfrm>
        </p:grpSpPr>
        <p:sp>
          <p:nvSpPr>
            <p:cNvPr id="64" name="卷形: 垂直 63">
              <a:extLst>
                <a:ext uri="{FF2B5EF4-FFF2-40B4-BE49-F238E27FC236}">
                  <a16:creationId xmlns:a16="http://schemas.microsoft.com/office/drawing/2014/main" id="{E2E76C35-E718-44BD-A4BD-AABDD38F2A1F}"/>
                </a:ext>
              </a:extLst>
            </p:cNvPr>
            <p:cNvSpPr/>
            <p:nvPr/>
          </p:nvSpPr>
          <p:spPr>
            <a:xfrm>
              <a:off x="7529029" y="4604678"/>
              <a:ext cx="488887" cy="452512"/>
            </a:xfrm>
            <a:prstGeom prst="verticalScroll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5" name="文本框 64">
              <a:extLst>
                <a:ext uri="{FF2B5EF4-FFF2-40B4-BE49-F238E27FC236}">
                  <a16:creationId xmlns:a16="http://schemas.microsoft.com/office/drawing/2014/main" id="{5E5D44BE-3D8F-4468-9F4E-3B47CCE7967A}"/>
                </a:ext>
              </a:extLst>
            </p:cNvPr>
            <p:cNvSpPr txBox="1"/>
            <p:nvPr/>
          </p:nvSpPr>
          <p:spPr>
            <a:xfrm>
              <a:off x="6904342" y="5057190"/>
              <a:ext cx="1745434" cy="55399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000" dirty="0">
                  <a:latin typeface="宋体" panose="02010600030101010101" pitchFamily="2" charset="-122"/>
                  <a:ea typeface="宋体" panose="02010600030101010101" pitchFamily="2" charset="-122"/>
                </a:rPr>
                <a:t>图像采集线程</a:t>
              </a:r>
              <a:endParaRPr lang="en-US" altLang="zh-CN" sz="1000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  <a:p>
              <a:pPr algn="ctr"/>
              <a:r>
                <a:rPr lang="en-US" altLang="zh-CN" sz="1000" dirty="0">
                  <a:solidFill>
                    <a:srgbClr val="800000"/>
                  </a:solidFill>
                  <a:effectLst/>
                  <a:latin typeface="宋体" panose="02010600030101010101" pitchFamily="2" charset="-122"/>
                  <a:ea typeface="宋体" panose="02010600030101010101" pitchFamily="2" charset="-122"/>
                </a:rPr>
                <a:t>Thread : </a:t>
              </a:r>
              <a:r>
                <a:rPr lang="en-US" altLang="zh-CN" sz="1000" u="sng" dirty="0" err="1">
                  <a:solidFill>
                    <a:srgbClr val="800000"/>
                  </a:solidFill>
                  <a:effectLst/>
                  <a:latin typeface="宋体" panose="02010600030101010101" pitchFamily="2" charset="-122"/>
                  <a:ea typeface="宋体" panose="02010600030101010101" pitchFamily="2" charset="-122"/>
                </a:rPr>
                <a:t>m_captureThread</a:t>
              </a:r>
              <a:endParaRPr lang="en-US" altLang="zh-CN" sz="1000" u="sng" dirty="0">
                <a:solidFill>
                  <a:srgbClr val="8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endParaRPr>
            </a:p>
            <a:p>
              <a:pPr algn="ctr"/>
              <a:r>
                <a:rPr lang="en-US" altLang="zh-CN" sz="1000" dirty="0" err="1">
                  <a:latin typeface="宋体" panose="02010600030101010101" pitchFamily="2" charset="-122"/>
                  <a:ea typeface="宋体" panose="02010600030101010101" pitchFamily="2" charset="-122"/>
                </a:rPr>
                <a:t>Varient</a:t>
              </a:r>
              <a:r>
                <a:rPr lang="en-US" altLang="zh-CN" sz="1000" dirty="0">
                  <a:latin typeface="宋体" panose="02010600030101010101" pitchFamily="2" charset="-122"/>
                  <a:ea typeface="宋体" panose="02010600030101010101" pitchFamily="2" charset="-122"/>
                </a:rPr>
                <a:t> : </a:t>
              </a:r>
              <a:r>
                <a:rPr lang="en-US" altLang="zh-CN" sz="1000" u="sng" dirty="0" err="1">
                  <a:latin typeface="宋体" panose="02010600030101010101" pitchFamily="2" charset="-122"/>
                  <a:ea typeface="宋体" panose="02010600030101010101" pitchFamily="2" charset="-122"/>
                </a:rPr>
                <a:t>m_capturer</a:t>
              </a:r>
              <a:endParaRPr lang="zh-CN" altLang="en-US" sz="1000" u="sng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</p:grpSp>
      <p:cxnSp>
        <p:nvCxnSpPr>
          <p:cNvPr id="66" name="直接箭头连接符 65">
            <a:extLst>
              <a:ext uri="{FF2B5EF4-FFF2-40B4-BE49-F238E27FC236}">
                <a16:creationId xmlns:a16="http://schemas.microsoft.com/office/drawing/2014/main" id="{D0624970-53F5-47E0-B78C-719EF9D13AAF}"/>
              </a:ext>
            </a:extLst>
          </p:cNvPr>
          <p:cNvCxnSpPr>
            <a:cxnSpLocks/>
          </p:cNvCxnSpPr>
          <p:nvPr/>
        </p:nvCxnSpPr>
        <p:spPr>
          <a:xfrm flipH="1">
            <a:off x="7263278" y="1691918"/>
            <a:ext cx="1254374" cy="0"/>
          </a:xfrm>
          <a:prstGeom prst="straightConnector1">
            <a:avLst/>
          </a:prstGeom>
          <a:ln w="19050">
            <a:solidFill>
              <a:schemeClr val="tx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文本框 68">
            <a:extLst>
              <a:ext uri="{FF2B5EF4-FFF2-40B4-BE49-F238E27FC236}">
                <a16:creationId xmlns:a16="http://schemas.microsoft.com/office/drawing/2014/main" id="{7270BC85-A519-498B-8F80-2611E07A164F}"/>
              </a:ext>
            </a:extLst>
          </p:cNvPr>
          <p:cNvSpPr txBox="1"/>
          <p:nvPr/>
        </p:nvSpPr>
        <p:spPr>
          <a:xfrm>
            <a:off x="7180846" y="1326881"/>
            <a:ext cx="1384050" cy="3650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 dirty="0">
                <a:solidFill>
                  <a:srgbClr val="00B05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图像</a:t>
            </a:r>
            <a:endParaRPr lang="en-US" altLang="zh-CN" sz="1400" dirty="0">
              <a:solidFill>
                <a:srgbClr val="00B05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0" name="文本框 69">
            <a:extLst>
              <a:ext uri="{FF2B5EF4-FFF2-40B4-BE49-F238E27FC236}">
                <a16:creationId xmlns:a16="http://schemas.microsoft.com/office/drawing/2014/main" id="{C4406554-0372-48FE-816B-853B7847BE15}"/>
              </a:ext>
            </a:extLst>
          </p:cNvPr>
          <p:cNvSpPr txBox="1"/>
          <p:nvPr/>
        </p:nvSpPr>
        <p:spPr>
          <a:xfrm>
            <a:off x="3865010" y="2655917"/>
            <a:ext cx="1384050" cy="3650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 dirty="0">
                <a:solidFill>
                  <a:srgbClr val="00B05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处理结果</a:t>
            </a:r>
            <a:endParaRPr lang="en-US" altLang="zh-CN" sz="1400" dirty="0">
              <a:solidFill>
                <a:srgbClr val="00B05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71" name="直接箭头连接符 70">
            <a:extLst>
              <a:ext uri="{FF2B5EF4-FFF2-40B4-BE49-F238E27FC236}">
                <a16:creationId xmlns:a16="http://schemas.microsoft.com/office/drawing/2014/main" id="{B2ED0743-6131-4D23-A82B-CB07FF62F7B5}"/>
              </a:ext>
            </a:extLst>
          </p:cNvPr>
          <p:cNvCxnSpPr>
            <a:cxnSpLocks/>
          </p:cNvCxnSpPr>
          <p:nvPr/>
        </p:nvCxnSpPr>
        <p:spPr>
          <a:xfrm>
            <a:off x="4095014" y="4323670"/>
            <a:ext cx="3313606" cy="0"/>
          </a:xfrm>
          <a:prstGeom prst="straightConnector1">
            <a:avLst/>
          </a:prstGeom>
          <a:ln w="190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文本框 71">
            <a:extLst>
              <a:ext uri="{FF2B5EF4-FFF2-40B4-BE49-F238E27FC236}">
                <a16:creationId xmlns:a16="http://schemas.microsoft.com/office/drawing/2014/main" id="{1DFAE901-E123-41FE-B20D-98EC0403FA80}"/>
              </a:ext>
            </a:extLst>
          </p:cNvPr>
          <p:cNvSpPr txBox="1"/>
          <p:nvPr/>
        </p:nvSpPr>
        <p:spPr>
          <a:xfrm>
            <a:off x="5610930" y="3958633"/>
            <a:ext cx="1384050" cy="3650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 dirty="0">
                <a:solidFill>
                  <a:srgbClr val="00B05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处理结果转发</a:t>
            </a:r>
            <a:endParaRPr lang="en-US" altLang="zh-CN" sz="1400" dirty="0">
              <a:solidFill>
                <a:srgbClr val="00B05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4A66C353-8829-4811-B985-371044A5A2FD}"/>
              </a:ext>
            </a:extLst>
          </p:cNvPr>
          <p:cNvSpPr/>
          <p:nvPr/>
        </p:nvSpPr>
        <p:spPr>
          <a:xfrm>
            <a:off x="2888054" y="3621386"/>
            <a:ext cx="2580841" cy="2064189"/>
          </a:xfrm>
          <a:prstGeom prst="rect">
            <a:avLst/>
          </a:prstGeom>
          <a:noFill/>
          <a:ln w="19050"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6" name="连接符: 曲线 35">
            <a:extLst>
              <a:ext uri="{FF2B5EF4-FFF2-40B4-BE49-F238E27FC236}">
                <a16:creationId xmlns:a16="http://schemas.microsoft.com/office/drawing/2014/main" id="{925946FA-96AC-4947-8EBC-5ED8B7B71802}"/>
              </a:ext>
            </a:extLst>
          </p:cNvPr>
          <p:cNvCxnSpPr>
            <a:cxnSpLocks/>
            <a:stCxn id="9" idx="0"/>
            <a:endCxn id="9" idx="2"/>
          </p:cNvCxnSpPr>
          <p:nvPr/>
        </p:nvCxnSpPr>
        <p:spPr>
          <a:xfrm rot="16200000" flipH="1">
            <a:off x="3386786" y="4795580"/>
            <a:ext cx="523220" cy="12700"/>
          </a:xfrm>
          <a:prstGeom prst="curvedConnector5">
            <a:avLst>
              <a:gd name="adj1" fmla="val -43691"/>
              <a:gd name="adj2" fmla="val 6349016"/>
              <a:gd name="adj3" fmla="val 143691"/>
            </a:avLst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文本框 73">
            <a:extLst>
              <a:ext uri="{FF2B5EF4-FFF2-40B4-BE49-F238E27FC236}">
                <a16:creationId xmlns:a16="http://schemas.microsoft.com/office/drawing/2014/main" id="{BED1CA45-814A-4D40-BBEC-0F9BB4E952A7}"/>
              </a:ext>
            </a:extLst>
          </p:cNvPr>
          <p:cNvSpPr txBox="1"/>
          <p:nvPr/>
        </p:nvSpPr>
        <p:spPr>
          <a:xfrm>
            <a:off x="4078973" y="3982055"/>
            <a:ext cx="1389922" cy="307777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pPr algn="ctr"/>
            <a:r>
              <a:rPr lang="zh-CN" altLang="en-US" sz="1400" dirty="0">
                <a:solidFill>
                  <a:srgbClr val="FF0000"/>
                </a:solidFill>
                <a:highlight>
                  <a:srgbClr val="FFFF00"/>
                </a:highlight>
                <a:latin typeface="宋体" panose="02010600030101010101" pitchFamily="2" charset="-122"/>
                <a:ea typeface="宋体" panose="02010600030101010101" pitchFamily="2" charset="-122"/>
              </a:rPr>
              <a:t>设置界面唤醒？</a:t>
            </a:r>
            <a:endParaRPr lang="en-US" altLang="zh-CN" sz="1400" dirty="0">
              <a:solidFill>
                <a:srgbClr val="FF0000"/>
              </a:solidFill>
              <a:highlight>
                <a:srgbClr val="FFFF00"/>
              </a:highlight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5" name="文本框 74">
            <a:extLst>
              <a:ext uri="{FF2B5EF4-FFF2-40B4-BE49-F238E27FC236}">
                <a16:creationId xmlns:a16="http://schemas.microsoft.com/office/drawing/2014/main" id="{97DF4BB4-21F3-4ED1-94B1-B1BC31785151}"/>
              </a:ext>
            </a:extLst>
          </p:cNvPr>
          <p:cNvSpPr txBox="1"/>
          <p:nvPr/>
        </p:nvSpPr>
        <p:spPr>
          <a:xfrm>
            <a:off x="4478021" y="4718178"/>
            <a:ext cx="346336" cy="307777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pPr algn="ctr"/>
            <a:r>
              <a:rPr lang="zh-CN" altLang="en-US" sz="1400" dirty="0">
                <a:solidFill>
                  <a:srgbClr val="FF0000"/>
                </a:solidFill>
                <a:highlight>
                  <a:srgbClr val="FFFF00"/>
                </a:highlight>
                <a:latin typeface="宋体" panose="02010600030101010101" pitchFamily="2" charset="-122"/>
                <a:ea typeface="宋体" panose="02010600030101010101" pitchFamily="2" charset="-122"/>
              </a:rPr>
              <a:t>否</a:t>
            </a:r>
            <a:endParaRPr lang="en-US" altLang="zh-CN" sz="1400" dirty="0">
              <a:solidFill>
                <a:srgbClr val="FF0000"/>
              </a:solidFill>
              <a:highlight>
                <a:srgbClr val="FFFF00"/>
              </a:highlight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6" name="文本框 75">
            <a:extLst>
              <a:ext uri="{FF2B5EF4-FFF2-40B4-BE49-F238E27FC236}">
                <a16:creationId xmlns:a16="http://schemas.microsoft.com/office/drawing/2014/main" id="{C12A4D0F-A870-4454-AB47-146E9426875F}"/>
              </a:ext>
            </a:extLst>
          </p:cNvPr>
          <p:cNvSpPr txBox="1"/>
          <p:nvPr/>
        </p:nvSpPr>
        <p:spPr>
          <a:xfrm>
            <a:off x="6157510" y="4371747"/>
            <a:ext cx="346336" cy="307777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pPr algn="ctr"/>
            <a:r>
              <a:rPr lang="zh-CN" altLang="en-US" sz="1400" dirty="0">
                <a:solidFill>
                  <a:srgbClr val="FF0000"/>
                </a:solidFill>
                <a:highlight>
                  <a:srgbClr val="FFFF00"/>
                </a:highlight>
                <a:latin typeface="宋体" panose="02010600030101010101" pitchFamily="2" charset="-122"/>
                <a:ea typeface="宋体" panose="02010600030101010101" pitchFamily="2" charset="-122"/>
              </a:rPr>
              <a:t>是</a:t>
            </a:r>
            <a:endParaRPr lang="en-US" altLang="zh-CN" sz="1400" dirty="0">
              <a:solidFill>
                <a:srgbClr val="FF0000"/>
              </a:solidFill>
              <a:highlight>
                <a:srgbClr val="FFFF00"/>
              </a:highlight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7" name="文本框 76">
            <a:extLst>
              <a:ext uri="{FF2B5EF4-FFF2-40B4-BE49-F238E27FC236}">
                <a16:creationId xmlns:a16="http://schemas.microsoft.com/office/drawing/2014/main" id="{CC3F805B-5585-45D0-A836-F2206EFBAD63}"/>
              </a:ext>
            </a:extLst>
          </p:cNvPr>
          <p:cNvSpPr txBox="1"/>
          <p:nvPr/>
        </p:nvSpPr>
        <p:spPr>
          <a:xfrm>
            <a:off x="3187642" y="5243171"/>
            <a:ext cx="1814744" cy="3650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 dirty="0">
                <a:solidFill>
                  <a:srgbClr val="00B05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处理结果直接显示</a:t>
            </a:r>
            <a:endParaRPr lang="en-US" altLang="zh-CN" sz="1400" dirty="0">
              <a:solidFill>
                <a:srgbClr val="00B05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9" name="文本框 78">
            <a:extLst>
              <a:ext uri="{FF2B5EF4-FFF2-40B4-BE49-F238E27FC236}">
                <a16:creationId xmlns:a16="http://schemas.microsoft.com/office/drawing/2014/main" id="{2D47E2DC-669A-4C36-815A-AAE78ED7FFE3}"/>
              </a:ext>
            </a:extLst>
          </p:cNvPr>
          <p:cNvSpPr txBox="1"/>
          <p:nvPr/>
        </p:nvSpPr>
        <p:spPr>
          <a:xfrm>
            <a:off x="7081418" y="1679480"/>
            <a:ext cx="16681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400" b="1" dirty="0">
                <a:solidFill>
                  <a:srgbClr val="800080"/>
                </a:solidFill>
              </a:rPr>
              <a:t>cv::Mat</a:t>
            </a:r>
            <a:endParaRPr lang="zh-CN" altLang="en-US" sz="1400" dirty="0"/>
          </a:p>
        </p:txBody>
      </p:sp>
      <p:sp>
        <p:nvSpPr>
          <p:cNvPr id="80" name="文本框 79">
            <a:extLst>
              <a:ext uri="{FF2B5EF4-FFF2-40B4-BE49-F238E27FC236}">
                <a16:creationId xmlns:a16="http://schemas.microsoft.com/office/drawing/2014/main" id="{1408341D-B3A0-4C9A-B6B6-6DB58C88A5F7}"/>
              </a:ext>
            </a:extLst>
          </p:cNvPr>
          <p:cNvSpPr txBox="1"/>
          <p:nvPr/>
        </p:nvSpPr>
        <p:spPr>
          <a:xfrm>
            <a:off x="4673750" y="2808579"/>
            <a:ext cx="16681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400" b="1" dirty="0" err="1">
                <a:solidFill>
                  <a:srgbClr val="800080"/>
                </a:solidFill>
                <a:effectLst/>
              </a:rPr>
              <a:t>FrameData</a:t>
            </a:r>
            <a:endParaRPr lang="zh-CN" altLang="en-US" sz="1400" dirty="0"/>
          </a:p>
        </p:txBody>
      </p:sp>
    </p:spTree>
    <p:extLst>
      <p:ext uri="{BB962C8B-B14F-4D97-AF65-F5344CB8AC3E}">
        <p14:creationId xmlns:p14="http://schemas.microsoft.com/office/powerpoint/2010/main" val="40881124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9AF5F094-3906-4E69-AA2A-656A3CBFE349}"/>
              </a:ext>
            </a:extLst>
          </p:cNvPr>
          <p:cNvSpPr txBox="1"/>
          <p:nvPr/>
        </p:nvSpPr>
        <p:spPr>
          <a:xfrm>
            <a:off x="295840" y="59712"/>
            <a:ext cx="9057034" cy="5792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500" b="1" dirty="0">
                <a:latin typeface="宋体" panose="02010600030101010101" pitchFamily="2" charset="-122"/>
                <a:ea typeface="宋体" panose="02010600030101010101" pitchFamily="2" charset="-122"/>
              </a:rPr>
              <a:t>5. </a:t>
            </a:r>
            <a:r>
              <a:rPr lang="zh-CN" altLang="en-US" sz="2500" b="1" dirty="0">
                <a:latin typeface="宋体" panose="02010600030101010101" pitchFamily="2" charset="-122"/>
                <a:ea typeface="宋体" panose="02010600030101010101" pitchFamily="2" charset="-122"/>
              </a:rPr>
              <a:t>算法动态库编译</a:t>
            </a:r>
            <a:endParaRPr lang="en-US" altLang="zh-CN" sz="25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5109D57B-280B-4C7E-B156-D5561BB004B2}"/>
              </a:ext>
            </a:extLst>
          </p:cNvPr>
          <p:cNvSpPr txBox="1"/>
          <p:nvPr/>
        </p:nvSpPr>
        <p:spPr>
          <a:xfrm>
            <a:off x="740317" y="638973"/>
            <a:ext cx="11255525" cy="23040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sz="1400" dirty="0">
                <a:solidFill>
                  <a:srgbClr val="00B05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Windows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en-US" altLang="zh-CN" sz="1400" dirty="0">
                <a:solidFill>
                  <a:srgbClr val="00B05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C:\Qt\Qt5.14.2\Tools\mingw730_32\bin\g++.exe ./AlgorithmBlock.cpp -shared -</a:t>
            </a:r>
            <a:r>
              <a:rPr lang="en-US" altLang="zh-CN" sz="1400" dirty="0" err="1">
                <a:solidFill>
                  <a:srgbClr val="00B05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fPIC</a:t>
            </a:r>
            <a:r>
              <a:rPr lang="en-US" altLang="zh-CN" sz="1400" dirty="0">
                <a:solidFill>
                  <a:srgbClr val="00B05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-o AlgorithmBlock.dll -std=</a:t>
            </a:r>
            <a:r>
              <a:rPr lang="en-US" altLang="zh-CN" sz="1400" dirty="0" err="1">
                <a:solidFill>
                  <a:srgbClr val="00B05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c++</a:t>
            </a:r>
            <a:r>
              <a:rPr lang="en-US" altLang="zh-CN" sz="1400" dirty="0">
                <a:solidFill>
                  <a:srgbClr val="00B05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11 -I E:/Libs/opencv_MinGW/include -L E:/Libs/opencv_MinGW/bin -lopencv_core460 -lopencv_imgproc460 -lopencv_highgui460 -static-</a:t>
            </a:r>
            <a:r>
              <a:rPr lang="en-US" altLang="zh-CN" sz="1400" dirty="0" err="1">
                <a:solidFill>
                  <a:srgbClr val="00B05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libgcc</a:t>
            </a:r>
            <a:r>
              <a:rPr lang="en-US" altLang="zh-CN" sz="1400" dirty="0">
                <a:solidFill>
                  <a:srgbClr val="00B05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-static-</a:t>
            </a:r>
            <a:r>
              <a:rPr lang="en-US" altLang="zh-CN" sz="1400" dirty="0" err="1">
                <a:solidFill>
                  <a:srgbClr val="00B05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libstdc</a:t>
            </a:r>
            <a:r>
              <a:rPr lang="en-US" altLang="zh-CN" sz="1400" dirty="0">
                <a:solidFill>
                  <a:srgbClr val="00B05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++ -DBUILD_DLL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en-US" altLang="zh-CN" sz="1400" dirty="0">
                <a:solidFill>
                  <a:srgbClr val="00B05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C:\Qt\Qt5.14.2\Tools\mingw730_32\bin\g++.exe ./AlgorithmLine.cpp -shared -</a:t>
            </a:r>
            <a:r>
              <a:rPr lang="en-US" altLang="zh-CN" sz="1400" dirty="0" err="1">
                <a:solidFill>
                  <a:srgbClr val="00B05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fPIC</a:t>
            </a:r>
            <a:r>
              <a:rPr lang="en-US" altLang="zh-CN" sz="1400" dirty="0">
                <a:solidFill>
                  <a:srgbClr val="00B05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-o AlgorithmLine.dll -std=</a:t>
            </a:r>
            <a:r>
              <a:rPr lang="en-US" altLang="zh-CN" sz="1400" dirty="0" err="1">
                <a:solidFill>
                  <a:srgbClr val="00B05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c++</a:t>
            </a:r>
            <a:r>
              <a:rPr lang="en-US" altLang="zh-CN" sz="1400" dirty="0">
                <a:solidFill>
                  <a:srgbClr val="00B05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11 -I E:/Libs/opencv_MinGW/include -L E:/Libs/opencv_MinGW/bin -lopencv_core460 -lopencv_imgproc460 -lopencv_highgui460 -static-</a:t>
            </a:r>
            <a:r>
              <a:rPr lang="en-US" altLang="zh-CN" sz="1400" dirty="0" err="1">
                <a:solidFill>
                  <a:srgbClr val="00B05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libgcc</a:t>
            </a:r>
            <a:r>
              <a:rPr lang="en-US" altLang="zh-CN" sz="1400" dirty="0">
                <a:solidFill>
                  <a:srgbClr val="00B05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-static-</a:t>
            </a:r>
            <a:r>
              <a:rPr lang="en-US" altLang="zh-CN" sz="1400" dirty="0" err="1">
                <a:solidFill>
                  <a:srgbClr val="00B05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libstdc</a:t>
            </a:r>
            <a:r>
              <a:rPr lang="en-US" altLang="zh-CN" sz="1400" dirty="0">
                <a:solidFill>
                  <a:srgbClr val="00B05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++ -DBUILD_DLL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CCEB8AA-CDA4-48B1-9198-F5A64B5F3BA0}"/>
              </a:ext>
            </a:extLst>
          </p:cNvPr>
          <p:cNvSpPr txBox="1"/>
          <p:nvPr/>
        </p:nvSpPr>
        <p:spPr>
          <a:xfrm>
            <a:off x="740317" y="3525520"/>
            <a:ext cx="11318899" cy="23040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sz="1400" dirty="0">
                <a:solidFill>
                  <a:srgbClr val="00B05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Linux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en-US" altLang="zh-CN" sz="1400" dirty="0">
                <a:solidFill>
                  <a:srgbClr val="00B05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arm-</a:t>
            </a:r>
            <a:r>
              <a:rPr lang="en-US" altLang="zh-CN" sz="1400" dirty="0" err="1">
                <a:solidFill>
                  <a:srgbClr val="00B05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openwrt</a:t>
            </a:r>
            <a:r>
              <a:rPr lang="en-US" altLang="zh-CN" sz="1400" dirty="0">
                <a:solidFill>
                  <a:srgbClr val="00B05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-</a:t>
            </a:r>
            <a:r>
              <a:rPr lang="en-US" altLang="zh-CN" sz="1400" dirty="0" err="1">
                <a:solidFill>
                  <a:srgbClr val="00B05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linux</a:t>
            </a:r>
            <a:r>
              <a:rPr lang="en-US" altLang="zh-CN" sz="1400" dirty="0">
                <a:solidFill>
                  <a:srgbClr val="00B05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-g++ -shared -</a:t>
            </a:r>
            <a:r>
              <a:rPr lang="en-US" altLang="zh-CN" sz="1400" dirty="0" err="1">
                <a:solidFill>
                  <a:srgbClr val="00B05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fPIC</a:t>
            </a:r>
            <a:r>
              <a:rPr lang="en-US" altLang="zh-CN" sz="1400" dirty="0">
                <a:solidFill>
                  <a:srgbClr val="00B05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-Wall -o AlgorithmLine.so -std=</a:t>
            </a:r>
            <a:r>
              <a:rPr lang="en-US" altLang="zh-CN" sz="1400" dirty="0" err="1">
                <a:solidFill>
                  <a:srgbClr val="00B05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c++</a:t>
            </a:r>
            <a:r>
              <a:rPr lang="en-US" altLang="zh-CN" sz="1400" dirty="0">
                <a:solidFill>
                  <a:srgbClr val="00B05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11 -I/home/</a:t>
            </a:r>
            <a:r>
              <a:rPr lang="en-US" altLang="zh-CN" sz="1400" dirty="0" err="1">
                <a:solidFill>
                  <a:srgbClr val="00B05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meetyoo</a:t>
            </a:r>
            <a:r>
              <a:rPr lang="en-US" altLang="zh-CN" sz="1400" dirty="0">
                <a:solidFill>
                  <a:srgbClr val="00B05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/Desktop/OpenCV411/include/opencv4 -L/home/</a:t>
            </a:r>
            <a:r>
              <a:rPr lang="en-US" altLang="zh-CN" sz="1400" dirty="0" err="1">
                <a:solidFill>
                  <a:srgbClr val="00B05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meetyoo</a:t>
            </a:r>
            <a:r>
              <a:rPr lang="en-US" altLang="zh-CN" sz="1400" dirty="0">
                <a:solidFill>
                  <a:srgbClr val="00B05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/Desktop/OpenCV411/lib -</a:t>
            </a:r>
            <a:r>
              <a:rPr lang="en-US" altLang="zh-CN" sz="1400" dirty="0" err="1">
                <a:solidFill>
                  <a:srgbClr val="00B05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lopencv_core</a:t>
            </a:r>
            <a:r>
              <a:rPr lang="en-US" altLang="zh-CN" sz="1400" dirty="0">
                <a:solidFill>
                  <a:srgbClr val="00B05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-</a:t>
            </a:r>
            <a:r>
              <a:rPr lang="en-US" altLang="zh-CN" sz="1400" dirty="0" err="1">
                <a:solidFill>
                  <a:srgbClr val="00B05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lopencv_imgcodecs</a:t>
            </a:r>
            <a:r>
              <a:rPr lang="en-US" altLang="zh-CN" sz="1400" dirty="0">
                <a:solidFill>
                  <a:srgbClr val="00B05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-</a:t>
            </a:r>
            <a:r>
              <a:rPr lang="en-US" altLang="zh-CN" sz="1400" dirty="0" err="1">
                <a:solidFill>
                  <a:srgbClr val="00B05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lopencv_imgproc</a:t>
            </a:r>
            <a:r>
              <a:rPr lang="en-US" altLang="zh-CN" sz="1400" dirty="0">
                <a:solidFill>
                  <a:srgbClr val="00B05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AlgorithmLine.cpp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en-US" altLang="zh-CN" sz="1400" dirty="0">
                <a:solidFill>
                  <a:srgbClr val="00B05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arm-</a:t>
            </a:r>
            <a:r>
              <a:rPr lang="en-US" altLang="zh-CN" sz="1400" dirty="0" err="1">
                <a:solidFill>
                  <a:srgbClr val="00B05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openwrt</a:t>
            </a:r>
            <a:r>
              <a:rPr lang="en-US" altLang="zh-CN" sz="1400" dirty="0">
                <a:solidFill>
                  <a:srgbClr val="00B05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-</a:t>
            </a:r>
            <a:r>
              <a:rPr lang="en-US" altLang="zh-CN" sz="1400" dirty="0" err="1">
                <a:solidFill>
                  <a:srgbClr val="00B05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linux</a:t>
            </a:r>
            <a:r>
              <a:rPr lang="en-US" altLang="zh-CN" sz="1400" dirty="0">
                <a:solidFill>
                  <a:srgbClr val="00B05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-g++ -shared -</a:t>
            </a:r>
            <a:r>
              <a:rPr lang="en-US" altLang="zh-CN" sz="1400" dirty="0" err="1">
                <a:solidFill>
                  <a:srgbClr val="00B05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fPIC</a:t>
            </a:r>
            <a:r>
              <a:rPr lang="en-US" altLang="zh-CN" sz="1400" dirty="0">
                <a:solidFill>
                  <a:srgbClr val="00B05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-Wall -o AlgorithmBlock.so -std=</a:t>
            </a:r>
            <a:r>
              <a:rPr lang="en-US" altLang="zh-CN" sz="1400" dirty="0" err="1">
                <a:solidFill>
                  <a:srgbClr val="00B05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c++</a:t>
            </a:r>
            <a:r>
              <a:rPr lang="en-US" altLang="zh-CN" sz="1400" dirty="0">
                <a:solidFill>
                  <a:srgbClr val="00B05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11 -I/home/</a:t>
            </a:r>
            <a:r>
              <a:rPr lang="en-US" altLang="zh-CN" sz="1400" dirty="0" err="1">
                <a:solidFill>
                  <a:srgbClr val="00B05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meetyoo</a:t>
            </a:r>
            <a:r>
              <a:rPr lang="en-US" altLang="zh-CN" sz="1400" dirty="0">
                <a:solidFill>
                  <a:srgbClr val="00B05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/Desktop/OpenCV411/include/opencv4 -L/home/</a:t>
            </a:r>
            <a:r>
              <a:rPr lang="en-US" altLang="zh-CN" sz="1400" dirty="0" err="1">
                <a:solidFill>
                  <a:srgbClr val="00B05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meetyoo</a:t>
            </a:r>
            <a:r>
              <a:rPr lang="en-US" altLang="zh-CN" sz="1400" dirty="0">
                <a:solidFill>
                  <a:srgbClr val="00B05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/Desktop/OpenCV411/lib -</a:t>
            </a:r>
            <a:r>
              <a:rPr lang="en-US" altLang="zh-CN" sz="1400" dirty="0" err="1">
                <a:solidFill>
                  <a:srgbClr val="00B05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lopencv_core</a:t>
            </a:r>
            <a:r>
              <a:rPr lang="en-US" altLang="zh-CN" sz="1400" dirty="0">
                <a:solidFill>
                  <a:srgbClr val="00B05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-</a:t>
            </a:r>
            <a:r>
              <a:rPr lang="en-US" altLang="zh-CN" sz="1400" dirty="0" err="1">
                <a:solidFill>
                  <a:srgbClr val="00B05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lopencv_imgcodecs</a:t>
            </a:r>
            <a:r>
              <a:rPr lang="en-US" altLang="zh-CN" sz="1400" dirty="0">
                <a:solidFill>
                  <a:srgbClr val="00B05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-</a:t>
            </a:r>
            <a:r>
              <a:rPr lang="en-US" altLang="zh-CN" sz="1400" dirty="0" err="1">
                <a:solidFill>
                  <a:srgbClr val="00B05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lopencv_imgproc</a:t>
            </a:r>
            <a:r>
              <a:rPr lang="en-US" altLang="zh-CN" sz="1400" dirty="0">
                <a:solidFill>
                  <a:srgbClr val="00B05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AlgorithmBlock.cpp</a:t>
            </a:r>
          </a:p>
        </p:txBody>
      </p:sp>
    </p:spTree>
    <p:extLst>
      <p:ext uri="{BB962C8B-B14F-4D97-AF65-F5344CB8AC3E}">
        <p14:creationId xmlns:p14="http://schemas.microsoft.com/office/powerpoint/2010/main" val="36514897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9AF5F094-3906-4E69-AA2A-656A3CBFE349}"/>
              </a:ext>
            </a:extLst>
          </p:cNvPr>
          <p:cNvSpPr txBox="1"/>
          <p:nvPr/>
        </p:nvSpPr>
        <p:spPr>
          <a:xfrm>
            <a:off x="295840" y="59712"/>
            <a:ext cx="9057034" cy="5792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500" b="1" dirty="0">
                <a:latin typeface="宋体" panose="02010600030101010101" pitchFamily="2" charset="-122"/>
                <a:ea typeface="宋体" panose="02010600030101010101" pitchFamily="2" charset="-122"/>
              </a:rPr>
              <a:t>6. </a:t>
            </a:r>
            <a:r>
              <a:rPr lang="zh-CN" altLang="en-US" sz="2500" b="1" dirty="0">
                <a:latin typeface="宋体" panose="02010600030101010101" pitchFamily="2" charset="-122"/>
                <a:ea typeface="宋体" panose="02010600030101010101" pitchFamily="2" charset="-122"/>
              </a:rPr>
              <a:t>软件编译</a:t>
            </a:r>
            <a:endParaRPr lang="en-US" altLang="zh-CN" sz="25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5109D57B-280B-4C7E-B156-D5561BB004B2}"/>
              </a:ext>
            </a:extLst>
          </p:cNvPr>
          <p:cNvSpPr txBox="1"/>
          <p:nvPr/>
        </p:nvSpPr>
        <p:spPr>
          <a:xfrm>
            <a:off x="740317" y="638973"/>
            <a:ext cx="11255525" cy="23040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sz="1400" dirty="0">
                <a:solidFill>
                  <a:srgbClr val="00B05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Windows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zh-CN" altLang="en-US" sz="1400" dirty="0">
                <a:solidFill>
                  <a:srgbClr val="00B05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需要编译 </a:t>
            </a:r>
            <a:r>
              <a:rPr lang="en-US" altLang="zh-CN" sz="1400" dirty="0">
                <a:solidFill>
                  <a:srgbClr val="00B05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MinGW </a:t>
            </a:r>
            <a:r>
              <a:rPr lang="zh-CN" altLang="en-US" sz="1400" dirty="0">
                <a:solidFill>
                  <a:srgbClr val="00B05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对应的</a:t>
            </a:r>
            <a:r>
              <a:rPr lang="en-US" altLang="zh-CN" sz="1400" dirty="0" err="1">
                <a:solidFill>
                  <a:srgbClr val="00B05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opencv</a:t>
            </a:r>
            <a:r>
              <a:rPr lang="zh-CN" altLang="en-US" sz="1400" dirty="0">
                <a:solidFill>
                  <a:srgbClr val="00B05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库，并配置 </a:t>
            </a:r>
            <a:r>
              <a:rPr lang="en-US" altLang="zh-CN" sz="1400" dirty="0">
                <a:solidFill>
                  <a:srgbClr val="00B05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INCLUDEPATH </a:t>
            </a:r>
            <a:r>
              <a:rPr lang="zh-CN" altLang="en-US" sz="1400" dirty="0">
                <a:solidFill>
                  <a:srgbClr val="00B05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和 </a:t>
            </a:r>
            <a:r>
              <a:rPr lang="en-US" altLang="zh-CN" sz="1400" dirty="0">
                <a:solidFill>
                  <a:srgbClr val="00B05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LIBS</a:t>
            </a:r>
            <a:r>
              <a:rPr lang="zh-CN" altLang="en-US" sz="1400" dirty="0">
                <a:solidFill>
                  <a:srgbClr val="00B05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；</a:t>
            </a:r>
            <a:endParaRPr lang="en-US" altLang="zh-CN" sz="1400" dirty="0">
              <a:solidFill>
                <a:srgbClr val="00B05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zh-CN" altLang="en-US" sz="1400" dirty="0">
                <a:solidFill>
                  <a:srgbClr val="00B05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使用 </a:t>
            </a:r>
            <a:r>
              <a:rPr lang="en-US" altLang="zh-CN" sz="1400" dirty="0">
                <a:solidFill>
                  <a:srgbClr val="00B05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MinGW – 32bit </a:t>
            </a:r>
            <a:r>
              <a:rPr lang="zh-CN" altLang="en-US" sz="1400" dirty="0">
                <a:solidFill>
                  <a:srgbClr val="00B05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进行编译；</a:t>
            </a:r>
            <a:endParaRPr lang="en-US" altLang="zh-CN" sz="1400" dirty="0">
              <a:solidFill>
                <a:srgbClr val="00B05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zh-CN" altLang="en-US" sz="1400" dirty="0">
                <a:solidFill>
                  <a:srgbClr val="00B05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如果版本合适，也可以用</a:t>
            </a:r>
            <a:r>
              <a:rPr lang="en-US" altLang="zh-CN" sz="1400" dirty="0">
                <a:solidFill>
                  <a:srgbClr val="00B05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VS</a:t>
            </a:r>
            <a:r>
              <a:rPr lang="zh-CN" altLang="en-US" sz="1400" dirty="0">
                <a:solidFill>
                  <a:srgbClr val="00B05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的</a:t>
            </a:r>
            <a:r>
              <a:rPr lang="en-US" altLang="zh-CN" sz="1400" dirty="0">
                <a:solidFill>
                  <a:srgbClr val="00B05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MSVC</a:t>
            </a:r>
            <a:r>
              <a:rPr lang="zh-CN" altLang="en-US" sz="1400" dirty="0">
                <a:solidFill>
                  <a:srgbClr val="00B05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编译器，注意</a:t>
            </a:r>
            <a:r>
              <a:rPr lang="en-US" altLang="zh-CN" sz="1400" dirty="0">
                <a:solidFill>
                  <a:srgbClr val="00B05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Qt</a:t>
            </a:r>
            <a:r>
              <a:rPr lang="zh-CN" altLang="en-US" sz="1400" dirty="0">
                <a:solidFill>
                  <a:srgbClr val="00B05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和</a:t>
            </a:r>
            <a:r>
              <a:rPr lang="en-US" altLang="zh-CN" sz="1400" dirty="0">
                <a:solidFill>
                  <a:srgbClr val="00B05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MSVC</a:t>
            </a:r>
            <a:r>
              <a:rPr lang="zh-CN" altLang="en-US" sz="1400" dirty="0">
                <a:solidFill>
                  <a:srgbClr val="00B05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版本对齐即可；</a:t>
            </a:r>
            <a:endParaRPr lang="en-US" altLang="zh-CN" sz="1400" dirty="0">
              <a:solidFill>
                <a:srgbClr val="00B05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zh-CN" altLang="en-US" sz="1400" dirty="0">
                <a:solidFill>
                  <a:srgbClr val="00B05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核心内容：</a:t>
            </a:r>
            <a:endParaRPr lang="en-US" altLang="zh-CN" sz="1400" dirty="0">
              <a:solidFill>
                <a:srgbClr val="00B05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1200150" lvl="2" indent="-285750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en-US" altLang="zh-CN" sz="1400" dirty="0">
                <a:solidFill>
                  <a:srgbClr val="00B05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Qt</a:t>
            </a:r>
            <a:r>
              <a:rPr lang="zh-CN" altLang="en-US" sz="1400" dirty="0">
                <a:solidFill>
                  <a:srgbClr val="00B05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配置：编译器 👉 </a:t>
            </a:r>
            <a:r>
              <a:rPr lang="en-US" altLang="zh-CN" sz="1400" dirty="0">
                <a:solidFill>
                  <a:srgbClr val="00B05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Qt </a:t>
            </a:r>
            <a:r>
              <a:rPr lang="zh-CN" altLang="en-US" sz="1400" dirty="0">
                <a:solidFill>
                  <a:srgbClr val="00B05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👉</a:t>
            </a:r>
            <a:r>
              <a:rPr lang="en-US" altLang="zh-CN" sz="1400" dirty="0">
                <a:solidFill>
                  <a:srgbClr val="00B05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Kits </a:t>
            </a:r>
            <a:r>
              <a:rPr lang="zh-CN" altLang="en-US" sz="1400" dirty="0">
                <a:solidFill>
                  <a:srgbClr val="00B05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👉 </a:t>
            </a:r>
            <a:r>
              <a:rPr lang="en-US" altLang="zh-CN" sz="1400" dirty="0" err="1">
                <a:solidFill>
                  <a:srgbClr val="00B05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qmake</a:t>
            </a:r>
            <a:r>
              <a:rPr lang="en-US" altLang="zh-CN" sz="1400" dirty="0">
                <a:solidFill>
                  <a:srgbClr val="00B05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1400" dirty="0">
                <a:solidFill>
                  <a:srgbClr val="00B05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版本对齐； 如 </a:t>
            </a:r>
            <a:r>
              <a:rPr lang="en-US" altLang="zh-CN" sz="1400" dirty="0">
                <a:solidFill>
                  <a:srgbClr val="00B05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Qt 5.14.1 </a:t>
            </a:r>
            <a:r>
              <a:rPr lang="zh-CN" altLang="en-US" sz="1400" dirty="0">
                <a:solidFill>
                  <a:srgbClr val="00B05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对应  </a:t>
            </a:r>
            <a:r>
              <a:rPr lang="en-US" altLang="zh-CN" sz="1400" dirty="0">
                <a:solidFill>
                  <a:srgbClr val="00B05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MSVC-2017,32bit</a:t>
            </a:r>
            <a:r>
              <a:rPr lang="zh-CN" altLang="en-US" sz="1400" dirty="0">
                <a:solidFill>
                  <a:srgbClr val="00B05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；</a:t>
            </a:r>
            <a:endParaRPr lang="en-US" altLang="zh-CN" sz="1400" dirty="0">
              <a:solidFill>
                <a:srgbClr val="00B05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1200150" lvl="2" indent="-285750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en-US" altLang="zh-CN" sz="1400" dirty="0">
                <a:solidFill>
                  <a:srgbClr val="00B05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OpenCV</a:t>
            </a:r>
            <a:r>
              <a:rPr lang="zh-CN" altLang="en-US" sz="1400" dirty="0">
                <a:solidFill>
                  <a:srgbClr val="00B05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配置：需要编译器编译源码生成。</a:t>
            </a:r>
            <a:endParaRPr lang="en-US" altLang="zh-CN" sz="1400" dirty="0">
              <a:solidFill>
                <a:srgbClr val="00B05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5094039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9AF5F094-3906-4E69-AA2A-656A3CBFE349}"/>
              </a:ext>
            </a:extLst>
          </p:cNvPr>
          <p:cNvSpPr txBox="1"/>
          <p:nvPr/>
        </p:nvSpPr>
        <p:spPr>
          <a:xfrm>
            <a:off x="295840" y="59712"/>
            <a:ext cx="9057034" cy="5792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500" b="1" dirty="0">
                <a:latin typeface="宋体" panose="02010600030101010101" pitchFamily="2" charset="-122"/>
                <a:ea typeface="宋体" panose="02010600030101010101" pitchFamily="2" charset="-122"/>
              </a:rPr>
              <a:t>6. </a:t>
            </a:r>
            <a:r>
              <a:rPr lang="zh-CN" altLang="en-US" sz="2500" b="1" dirty="0">
                <a:latin typeface="宋体" panose="02010600030101010101" pitchFamily="2" charset="-122"/>
                <a:ea typeface="宋体" panose="02010600030101010101" pitchFamily="2" charset="-122"/>
              </a:rPr>
              <a:t>软件编译</a:t>
            </a:r>
            <a:endParaRPr lang="en-US" altLang="zh-CN" sz="25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5109D57B-280B-4C7E-B156-D5561BB004B2}"/>
              </a:ext>
            </a:extLst>
          </p:cNvPr>
          <p:cNvSpPr txBox="1"/>
          <p:nvPr/>
        </p:nvSpPr>
        <p:spPr>
          <a:xfrm>
            <a:off x="740317" y="638973"/>
            <a:ext cx="11255525" cy="2950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sz="1400" dirty="0">
                <a:solidFill>
                  <a:srgbClr val="00B05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Linux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zh-CN" altLang="en-US" sz="1400" dirty="0">
                <a:solidFill>
                  <a:srgbClr val="00B05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配置 </a:t>
            </a:r>
            <a:r>
              <a:rPr lang="en-US" altLang="zh-CN" sz="1400" dirty="0">
                <a:solidFill>
                  <a:srgbClr val="00B05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arm-</a:t>
            </a:r>
            <a:r>
              <a:rPr lang="en-US" altLang="zh-CN" sz="1400" dirty="0" err="1">
                <a:solidFill>
                  <a:srgbClr val="00B05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openwrt</a:t>
            </a:r>
            <a:r>
              <a:rPr lang="en-US" altLang="zh-CN" sz="1400" dirty="0">
                <a:solidFill>
                  <a:srgbClr val="00B05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-</a:t>
            </a:r>
            <a:r>
              <a:rPr lang="en-US" altLang="zh-CN" sz="1400" dirty="0" err="1">
                <a:solidFill>
                  <a:srgbClr val="00B05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linux</a:t>
            </a:r>
            <a:r>
              <a:rPr lang="en-US" altLang="zh-CN" sz="1400" dirty="0">
                <a:solidFill>
                  <a:srgbClr val="00B05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-g++ </a:t>
            </a:r>
            <a:r>
              <a:rPr lang="zh-CN" altLang="en-US" sz="1400" dirty="0">
                <a:solidFill>
                  <a:srgbClr val="00B05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下的 </a:t>
            </a:r>
            <a:r>
              <a:rPr lang="en-US" altLang="zh-CN" sz="1400" dirty="0">
                <a:solidFill>
                  <a:srgbClr val="00B05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Qt</a:t>
            </a:r>
            <a:r>
              <a:rPr lang="zh-CN" altLang="en-US" sz="1400" dirty="0">
                <a:solidFill>
                  <a:srgbClr val="00B05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和</a:t>
            </a:r>
            <a:r>
              <a:rPr lang="en-US" altLang="zh-CN" sz="1400" dirty="0">
                <a:solidFill>
                  <a:srgbClr val="00B05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OpenCV</a:t>
            </a:r>
          </a:p>
          <a:p>
            <a:pPr marL="1200150" lvl="2" indent="-285750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en-US" altLang="zh-CN" sz="1400" dirty="0">
                <a:solidFill>
                  <a:srgbClr val="00B05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Qt</a:t>
            </a:r>
            <a:r>
              <a:rPr lang="zh-CN" altLang="en-US" sz="1400" dirty="0">
                <a:solidFill>
                  <a:srgbClr val="00B05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配置</a:t>
            </a:r>
            <a:endParaRPr lang="en-US" altLang="zh-CN" sz="1400" dirty="0">
              <a:solidFill>
                <a:srgbClr val="00B05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1657350" lvl="3" indent="-285750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zh-CN" altLang="en-US" sz="1400" dirty="0">
                <a:solidFill>
                  <a:srgbClr val="00B05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需要编译</a:t>
            </a:r>
            <a:r>
              <a:rPr lang="zh-CN" altLang="en-US" sz="1400" b="1" dirty="0">
                <a:solidFill>
                  <a:srgbClr val="00B05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编译器</a:t>
            </a:r>
            <a:r>
              <a:rPr lang="zh-CN" altLang="en-US" sz="1400" dirty="0">
                <a:solidFill>
                  <a:srgbClr val="00B05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对应的 </a:t>
            </a:r>
            <a:r>
              <a:rPr lang="en-US" altLang="zh-CN" sz="1400" dirty="0" err="1">
                <a:solidFill>
                  <a:srgbClr val="00B05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qt_everywhere</a:t>
            </a:r>
            <a:r>
              <a:rPr lang="zh-CN" altLang="en-US" sz="1400" dirty="0">
                <a:solidFill>
                  <a:srgbClr val="00B05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，生成对应的 </a:t>
            </a:r>
            <a:r>
              <a:rPr lang="en-US" altLang="zh-CN" sz="1400" dirty="0" err="1">
                <a:solidFill>
                  <a:srgbClr val="00B05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qmake</a:t>
            </a:r>
            <a:r>
              <a:rPr lang="zh-CN" altLang="en-US" sz="1400" dirty="0">
                <a:solidFill>
                  <a:srgbClr val="00B05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；（</a:t>
            </a:r>
            <a:r>
              <a:rPr lang="en-US" altLang="zh-CN" sz="1400" dirty="0">
                <a:solidFill>
                  <a:srgbClr val="00B05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SDK</a:t>
            </a:r>
            <a:r>
              <a:rPr lang="zh-CN" altLang="en-US" sz="1400" dirty="0">
                <a:solidFill>
                  <a:srgbClr val="00B05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中已包含）</a:t>
            </a:r>
            <a:endParaRPr lang="en-US" altLang="zh-CN" sz="1400" dirty="0">
              <a:solidFill>
                <a:srgbClr val="00B05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1657350" lvl="3" indent="-285750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zh-CN" altLang="en-US" sz="1400" dirty="0">
                <a:solidFill>
                  <a:srgbClr val="00B05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需要配置 </a:t>
            </a:r>
            <a:r>
              <a:rPr lang="en-US" altLang="zh-CN" sz="1400" dirty="0">
                <a:solidFill>
                  <a:srgbClr val="00B05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arm-</a:t>
            </a:r>
            <a:r>
              <a:rPr lang="en-US" altLang="zh-CN" sz="1400" dirty="0" err="1">
                <a:solidFill>
                  <a:srgbClr val="00B05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openwrt</a:t>
            </a:r>
            <a:r>
              <a:rPr lang="en-US" altLang="zh-CN" sz="1400" dirty="0">
                <a:solidFill>
                  <a:srgbClr val="00B05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-</a:t>
            </a:r>
            <a:r>
              <a:rPr lang="en-US" altLang="zh-CN" sz="1400" dirty="0" err="1">
                <a:solidFill>
                  <a:srgbClr val="00B05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linux</a:t>
            </a:r>
            <a:r>
              <a:rPr lang="en-US" altLang="zh-CN" sz="1400" dirty="0">
                <a:solidFill>
                  <a:srgbClr val="00B05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- </a:t>
            </a:r>
            <a:r>
              <a:rPr lang="zh-CN" altLang="en-US" sz="1400" dirty="0">
                <a:solidFill>
                  <a:srgbClr val="00B05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对应的 </a:t>
            </a:r>
            <a:r>
              <a:rPr lang="en-US" altLang="zh-CN" sz="1400" dirty="0">
                <a:solidFill>
                  <a:srgbClr val="00B05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Qt Kits</a:t>
            </a:r>
          </a:p>
          <a:p>
            <a:pPr marL="1200150" lvl="2" indent="-285750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en-US" altLang="zh-CN" sz="1400" dirty="0">
                <a:solidFill>
                  <a:srgbClr val="00B05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OpenCV</a:t>
            </a:r>
            <a:r>
              <a:rPr lang="zh-CN" altLang="en-US" sz="1400" dirty="0">
                <a:solidFill>
                  <a:srgbClr val="00B05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配置</a:t>
            </a:r>
            <a:endParaRPr lang="en-US" altLang="zh-CN" sz="1400" dirty="0">
              <a:solidFill>
                <a:srgbClr val="00B05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1657350" lvl="3" indent="-285750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zh-CN" altLang="en-US" sz="1400" dirty="0">
                <a:solidFill>
                  <a:srgbClr val="00B05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利用 </a:t>
            </a:r>
            <a:r>
              <a:rPr lang="en-US" altLang="zh-CN" sz="1400" dirty="0">
                <a:solidFill>
                  <a:srgbClr val="00B05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arm-</a:t>
            </a:r>
            <a:r>
              <a:rPr lang="en-US" altLang="zh-CN" sz="1400" dirty="0" err="1">
                <a:solidFill>
                  <a:srgbClr val="00B05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openwrt</a:t>
            </a:r>
            <a:r>
              <a:rPr lang="en-US" altLang="zh-CN" sz="1400" dirty="0">
                <a:solidFill>
                  <a:srgbClr val="00B05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-</a:t>
            </a:r>
            <a:r>
              <a:rPr lang="en-US" altLang="zh-CN" sz="1400" dirty="0" err="1">
                <a:solidFill>
                  <a:srgbClr val="00B05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linux</a:t>
            </a:r>
            <a:r>
              <a:rPr lang="en-US" altLang="zh-CN" sz="1400" dirty="0">
                <a:solidFill>
                  <a:srgbClr val="00B05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- </a:t>
            </a:r>
            <a:r>
              <a:rPr lang="zh-CN" altLang="en-US" sz="1400" dirty="0">
                <a:solidFill>
                  <a:srgbClr val="00B05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编译</a:t>
            </a:r>
            <a:r>
              <a:rPr lang="en-US" altLang="zh-CN" sz="1400" dirty="0">
                <a:solidFill>
                  <a:srgbClr val="00B05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OpenCV</a:t>
            </a:r>
            <a:r>
              <a:rPr lang="zh-CN" altLang="en-US" sz="1400" dirty="0">
                <a:solidFill>
                  <a:srgbClr val="00B05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源码获得对应的库；</a:t>
            </a:r>
            <a:endParaRPr lang="en-US" altLang="zh-CN" sz="1400" dirty="0">
              <a:solidFill>
                <a:srgbClr val="00B05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1657350" lvl="3" indent="-285750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zh-CN" altLang="en-US" sz="1400" dirty="0">
                <a:solidFill>
                  <a:srgbClr val="00B05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不要编译 </a:t>
            </a:r>
            <a:r>
              <a:rPr lang="en-US" altLang="zh-CN" sz="1400" dirty="0">
                <a:solidFill>
                  <a:srgbClr val="00B05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world</a:t>
            </a:r>
            <a:r>
              <a:rPr lang="zh-CN" altLang="en-US" sz="1400" dirty="0">
                <a:solidFill>
                  <a:srgbClr val="00B05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，编译单独文件，避免文件过大放不下；</a:t>
            </a:r>
            <a:endParaRPr lang="en-US" altLang="zh-CN" sz="1400" dirty="0">
              <a:solidFill>
                <a:srgbClr val="00B05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1657350" lvl="3" indent="-285750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zh-CN" altLang="en-US" sz="1400" dirty="0">
                <a:solidFill>
                  <a:srgbClr val="00B05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选择需要的库，单独编译工程即可，替换</a:t>
            </a:r>
            <a:r>
              <a:rPr lang="en-US" altLang="zh-CN" sz="1400" dirty="0">
                <a:solidFill>
                  <a:srgbClr val="00B05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pro</a:t>
            </a:r>
            <a:r>
              <a:rPr lang="zh-CN" altLang="en-US" sz="1400" dirty="0">
                <a:solidFill>
                  <a:srgbClr val="00B05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文件中 </a:t>
            </a:r>
            <a:r>
              <a:rPr lang="en-US" altLang="zh-CN" sz="1400" dirty="0">
                <a:solidFill>
                  <a:srgbClr val="00B05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INCLUDEPATH </a:t>
            </a:r>
            <a:r>
              <a:rPr lang="zh-CN" altLang="en-US" sz="1400" dirty="0">
                <a:solidFill>
                  <a:srgbClr val="00B05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和 </a:t>
            </a:r>
            <a:r>
              <a:rPr lang="en-US" altLang="zh-CN" sz="1400" dirty="0">
                <a:solidFill>
                  <a:srgbClr val="00B05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LIBS </a:t>
            </a:r>
            <a:r>
              <a:rPr lang="zh-CN" altLang="en-US" sz="1400" dirty="0">
                <a:solidFill>
                  <a:srgbClr val="00B05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路径</a:t>
            </a:r>
            <a:endParaRPr lang="en-US" altLang="zh-CN" sz="1400" dirty="0">
              <a:solidFill>
                <a:srgbClr val="00B05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930BEDCB-E832-4E7C-B6CA-4987C3D809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610" y="3673344"/>
            <a:ext cx="4647352" cy="3124944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8FFA5F0A-33B7-4937-8BFB-8F73EE1C313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55120" y="59712"/>
            <a:ext cx="5640523" cy="1285785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D34DFF8A-2DCC-4E30-A14A-1DEB5DC04F9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18466" y="3673343"/>
            <a:ext cx="4884711" cy="3124945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645C1B1D-952E-42DB-A6CD-356DC71B588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73992" y="2075838"/>
            <a:ext cx="3221651" cy="14018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70941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</TotalTime>
  <Words>811</Words>
  <Application>Microsoft Office PowerPoint</Application>
  <PresentationFormat>宽屏</PresentationFormat>
  <Paragraphs>109</Paragraphs>
  <Slides>8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4" baseType="lpstr">
      <vt:lpstr>等线</vt:lpstr>
      <vt:lpstr>等线 Light</vt:lpstr>
      <vt:lpstr>宋体</vt:lpstr>
      <vt:lpstr>Arial</vt:lpstr>
      <vt:lpstr>Wingdings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先生 许</dc:creator>
  <cp:lastModifiedBy>先生 许</cp:lastModifiedBy>
  <cp:revision>75</cp:revision>
  <dcterms:created xsi:type="dcterms:W3CDTF">2026-03-06T16:06:31Z</dcterms:created>
  <dcterms:modified xsi:type="dcterms:W3CDTF">2026-03-06T17:05:35Z</dcterms:modified>
</cp:coreProperties>
</file>